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aa5f0978c94372" /><Relationship Type="http://schemas.openxmlformats.org/officeDocument/2006/relationships/extended-properties" Target="/docProps/app.xml" Id="R848e5c96509744d6" /><Relationship Type="http://schemas.openxmlformats.org/officeDocument/2006/relationships/officeDocument" Target="/ppt/presentation.xml" Id="R6dd44bbdb3c1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159a0b831e4e98"/>
  </p:sldMasterIdLst>
  <p:notesMasterIdLst>
    <p:notesMasterId xmlns:r="http://schemas.openxmlformats.org/officeDocument/2006/relationships" r:id="R1692d95e86374153"/>
  </p:notesMasterIdLst>
  <p:sldIdLst>
    <p:sldId xmlns:r="http://schemas.openxmlformats.org/officeDocument/2006/relationships" id="256" r:id="R4a005367987f4cff"/>
    <p:sldId xmlns:r="http://schemas.openxmlformats.org/officeDocument/2006/relationships" id="257" r:id="R9bdf1d45d10c4ec9"/>
    <p:sldId xmlns:r="http://schemas.openxmlformats.org/officeDocument/2006/relationships" id="258" r:id="R96c358066bd14c8b"/>
    <p:sldId xmlns:r="http://schemas.openxmlformats.org/officeDocument/2006/relationships" id="259" r:id="Rff6850fb34244a6b"/>
    <p:sldId xmlns:r="http://schemas.openxmlformats.org/officeDocument/2006/relationships" id="260" r:id="R21efde4f8a9e4fb4"/>
    <p:sldId xmlns:r="http://schemas.openxmlformats.org/officeDocument/2006/relationships" id="261" r:id="R7954ab5418064424"/>
    <p:sldId xmlns:r="http://schemas.openxmlformats.org/officeDocument/2006/relationships" id="262" r:id="Rbe1cf5afe6694f05"/>
    <p:sldId xmlns:r="http://schemas.openxmlformats.org/officeDocument/2006/relationships" id="263" r:id="R69a1e8d9901d41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df1158da19424b" /><Relationship Type="http://schemas.openxmlformats.org/officeDocument/2006/relationships/slideMaster" Target="/ppt/slideMasters/slideMaster1.xml" Id="Rab159a0b831e4e98" /><Relationship Type="http://schemas.openxmlformats.org/officeDocument/2006/relationships/notesMaster" Target="/ppt/notesMasters/notesMaster1.xml" Id="R1692d95e86374153" /><Relationship Type="http://schemas.openxmlformats.org/officeDocument/2006/relationships/presProps" Target="/ppt/presProps.xml" Id="Rd5eabe35c8d04c11" /><Relationship Type="http://schemas.openxmlformats.org/officeDocument/2006/relationships/tableStyles" Target="/ppt/tableStyles.xml" Id="Rdbedce56052545ca" /><Relationship Type="http://schemas.openxmlformats.org/officeDocument/2006/relationships/slide" Target="/ppt/slides/slide1.xml" Id="R4a005367987f4cff" /><Relationship Type="http://schemas.openxmlformats.org/officeDocument/2006/relationships/slide" Target="/ppt/slides/slide2.xml" Id="R9bdf1d45d10c4ec9" /><Relationship Type="http://schemas.openxmlformats.org/officeDocument/2006/relationships/slide" Target="/ppt/slides/slide3.xml" Id="R96c358066bd14c8b" /><Relationship Type="http://schemas.openxmlformats.org/officeDocument/2006/relationships/slide" Target="/ppt/slides/slide4.xml" Id="Rff6850fb34244a6b" /><Relationship Type="http://schemas.openxmlformats.org/officeDocument/2006/relationships/slide" Target="/ppt/slides/slide5.xml" Id="R21efde4f8a9e4fb4" /><Relationship Type="http://schemas.openxmlformats.org/officeDocument/2006/relationships/slide" Target="/ppt/slides/slide6.xml" Id="R7954ab5418064424" /><Relationship Type="http://schemas.openxmlformats.org/officeDocument/2006/relationships/slide" Target="/ppt/slides/slide7.xml" Id="Rbe1cf5afe6694f05" /><Relationship Type="http://schemas.openxmlformats.org/officeDocument/2006/relationships/slide" Target="/ppt/slides/slide8.xml" Id="R69a1e8d9901d41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a078d10be844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c01611b1ab413c" /><Relationship Type="http://schemas.openxmlformats.org/officeDocument/2006/relationships/notesMaster" Target="/ppt/notesMasters/notesMaster1.xml" Id="R93c665d748ac4d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da9eff4cbe42c1" /><Relationship Type="http://schemas.openxmlformats.org/officeDocument/2006/relationships/notesMaster" Target="/ppt/notesMasters/notesMaster1.xml" Id="Rba34b7bbde414c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efe6cbf72e4712" /><Relationship Type="http://schemas.openxmlformats.org/officeDocument/2006/relationships/notesMaster" Target="/ppt/notesMasters/notesMaster1.xml" Id="R43d5dfc40e564d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1e47c12a494d8f" /><Relationship Type="http://schemas.openxmlformats.org/officeDocument/2006/relationships/notesMaster" Target="/ppt/notesMasters/notesMaster1.xml" Id="R24d161cdb9bd4c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b52ee3ab3046e4" /><Relationship Type="http://schemas.openxmlformats.org/officeDocument/2006/relationships/notesMaster" Target="/ppt/notesMasters/notesMaster1.xml" Id="R104703f7793042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38464722d64e2f" /><Relationship Type="http://schemas.openxmlformats.org/officeDocument/2006/relationships/notesMaster" Target="/ppt/notesMasters/notesMaster1.xml" Id="R926f892f2e80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cfb81df7bd43d3" /><Relationship Type="http://schemas.openxmlformats.org/officeDocument/2006/relationships/notesMaster" Target="/ppt/notesMasters/notesMaster1.xml" Id="R275982c77e4449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af22680a7544e6" /><Relationship Type="http://schemas.openxmlformats.org/officeDocument/2006/relationships/notesMaster" Target="/ppt/notesMasters/notesMaster1.xml" Id="Rd76d2455c18f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e590d1460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90cb9fba324bb6" /><Relationship Type="http://schemas.openxmlformats.org/officeDocument/2006/relationships/slideLayout" Target="/ppt/slideLayouts/slideLayout1.xml" Id="R1de8d0c35bd0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8d0c35bd0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aff4061e34b30" /><Relationship Type="http://schemas.openxmlformats.org/officeDocument/2006/relationships/image" Target="/ppt/media/image.png" Id="R6758596816024f99" /><Relationship Type="http://schemas.openxmlformats.org/officeDocument/2006/relationships/notesSlide" Target="/ppt/notesSlides/notesSlide1.xml" Id="R2c9ba45e8f6b4d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86033a245459e" /><Relationship Type="http://schemas.openxmlformats.org/officeDocument/2006/relationships/notesSlide" Target="/ppt/notesSlides/notesSlide2.xml" Id="Re12b809d00c2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010c4fd8c4bc1" /><Relationship Type="http://schemas.openxmlformats.org/officeDocument/2006/relationships/notesSlide" Target="/ppt/notesSlides/notesSlide3.xml" Id="Rf0d37331a8d4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d955c85164ecb" /><Relationship Type="http://schemas.openxmlformats.org/officeDocument/2006/relationships/image" Target="/ppt/media/image.jpeg" Id="Rdfcaed1bf592414f" /><Relationship Type="http://schemas.openxmlformats.org/officeDocument/2006/relationships/notesSlide" Target="/ppt/notesSlides/notesSlide4.xml" Id="Re18c4006453e4e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ec126338e4117" /><Relationship Type="http://schemas.openxmlformats.org/officeDocument/2006/relationships/image" Target="/ppt/media/image2.png" Id="Ra2ac4b64d91f4853" /><Relationship Type="http://schemas.openxmlformats.org/officeDocument/2006/relationships/notesSlide" Target="/ppt/notesSlides/notesSlide5.xml" Id="R8914ec8fc314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d073f765549a8" /><Relationship Type="http://schemas.openxmlformats.org/officeDocument/2006/relationships/image" Target="/ppt/media/image3.png" Id="R85708f7bc44a49a9" /><Relationship Type="http://schemas.openxmlformats.org/officeDocument/2006/relationships/notesSlide" Target="/ppt/notesSlides/notesSlide6.xml" Id="R006b8fa6953f4b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a5395fd654721" /><Relationship Type="http://schemas.openxmlformats.org/officeDocument/2006/relationships/image" Target="/ppt/media/image4.png" Id="Ref0dad0c8f4d42ac" /><Relationship Type="http://schemas.openxmlformats.org/officeDocument/2006/relationships/notesSlide" Target="/ppt/notesSlides/notesSlide7.xml" Id="R9a9e3931d5fc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6c0f6966e4527" /><Relationship Type="http://schemas.openxmlformats.org/officeDocument/2006/relationships/notesSlide" Target="/ppt/notesSlides/notesSlide8.xml" Id="Re6eff46e5d0240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8596816024f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C303D-3F8D-4603-B861-5F16D5F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81018"/>
              </a:gs>
              <a:gs pos="44000">
                <a:srgbClr val="081018">
                  <a:alpha val="92000"/>
                </a:srgbClr>
              </a:gs>
              <a:gs pos="100000">
                <a:srgbClr val="08101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93009-B2A0-4EF8-B8E3-E22EA2B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018">
                  <a:alpha val="25000"/>
                </a:srgbClr>
              </a:gs>
              <a:gs pos="70000">
                <a:srgbClr val="08101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pill-HR OPERATIONS · GOVERNANCE BY DESIGN">
            <a:extLst xmlns:a="http://schemas.openxmlformats.org/drawingml/2006/main">
              <a:ext uri="{FF2B5EF4-FFF2-40B4-BE49-F238E27FC236}">
                <a16:creationId xmlns:a16="http://schemas.microsoft.com/office/drawing/2014/main" id="{AB08198D-506A-49A5-B722-331543C6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705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43B"/>
          </a:solidFill>
          <a:ln xmlns:a="http://schemas.openxmlformats.org/drawingml/2006/main" w="9525">
            <a:solidFill>
              <a:srgbClr val="2D697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HR OPERATIONS · GOVERNANCE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73F46-7930-4E19-B94B-2BC4265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Govern.ai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81376-B1E2-413C-B0C7-EB0CAB8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operating layer for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trustworthy HR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7F709-68B5-4984-97F2-C07A21F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82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9D7DD"/>
                </a:solidFill>
                <a:latin typeface="Aptos"/>
                <a:ea typeface="Aptos"/>
                <a:cs typeface="Aptos"/>
              </a:rPr>
              <a:t>Specialized agents act. Policy evidence grounds.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9D7DD"/>
                </a:solidFill>
                <a:latin typeface="Aptos"/>
                <a:ea typeface="Aptos"/>
                <a:cs typeface="Aptos"/>
              </a:rPr>
              <a:t>Human checkpoints keep sensitive decisions in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61D61-E6FC-4364-B241-9045468C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Open-source · self-hostable · zero-secret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1BC78-172B-42EE-AB36-4C15A88A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C32A-1606-4DC1-84F2-6CA62D4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Govern.ai · HR Command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ED457-9298-48C6-8707-AB88A16F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3385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C05DB-E258-49E4-A50A-9C2CFC0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THE 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70FC7-B232-4252-95F1-4E5F0105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84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HR automation fails when action outruns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517E7-6997-4BB1-B12C-EB52A12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6461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A chatbot can answer. A real operating layer must coordinate work, show why it acted, and know when to stop.</a:t>
            </a:r>
          </a:p>
        </p:txBody>
      </p:sp>
      <p:sp>
        <p:nvSpPr>
          <p:cNvPr id="4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953D97D9-CD66-45F4-BF9D-7FA49341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6863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0810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9EDC8-85EF-4141-8021-8D0E2E18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“Why did this happen?”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C47C9-477F-43D2-8D40-FCF5768D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9D7DD"/>
                </a:solidFill>
                <a:latin typeface="Aptos"/>
                <a:ea typeface="Aptos"/>
                <a:cs typeface="Aptos"/>
              </a:rPr>
              <a:t>In HR, the answer must be more than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>
                <a:solidFill>
                  <a:srgbClr val="C9D7D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9D7DD"/>
                </a:solidFill>
                <a:latin typeface="Aptos"/>
                <a:ea typeface="Aptos"/>
                <a:cs typeface="Aptos"/>
              </a:rPr>
              <a:t>‘the model said so.’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DAD0-DE32-4ED1-A2FF-7BBBC2B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C8294-2694-4774-96A6-D4F7C4C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The product 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C7DE8-3EE2-460A-B55E-8690B43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Fleet + evidence + 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BD8D8-9B29-477A-B70A-157C15DC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97C5E-C53A-4DEB-AB19-9A9502D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5E8F9-0AF7-4060-A382-B122658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Action without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4EA07-4119-44E3-BFAA-2ECDE36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71808C"/>
                </a:solidFill>
                <a:latin typeface="Aptos"/>
                <a:ea typeface="Aptos"/>
                <a:cs typeface="Aptos"/>
              </a:rPr>
              <a:t>A model can trigger a workflow without showing the policy or case evidence behind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70747-6A4A-4CB7-89B4-CB23617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37895-E5D5-4F62-8592-6D6BC606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52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CD750-2B9F-4C7F-8D6B-30F50FD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Automation without a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B71B4-C557-457B-ACBC-BFDD98D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71808C"/>
                </a:solidFill>
                <a:latin typeface="Aptos"/>
                <a:ea typeface="Aptos"/>
                <a:cs typeface="Aptos"/>
              </a:rPr>
              <a:t>Sensitive actions need a human checkpoint—not a hidden confidence threshold.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2BA8-5553-4B98-8733-7E310BAB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47929-ABA5-48A7-906B-3774976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625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51772-CCC9-474A-A903-91A68A8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Inference without a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D10BA-666E-49E0-A3D2-A02C62DD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71808C"/>
                </a:solidFill>
                <a:latin typeface="Aptos"/>
                <a:ea typeface="Aptos"/>
                <a:cs typeface="Aptos"/>
              </a:rPr>
              <a:t>If the decision is not captured with who, when, and why, it cannot be audited.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6B27C-50AB-49FB-83A4-0811194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B3000-9FC5-4904-8D4C-FD361BF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PITCH.md · MISSION.md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4B9DE-9D58-441C-8203-6A041EBB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62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CA018-B620-41F3-9394-AA4C2F8D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EC41-23CA-45B8-B1FA-46A643FB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legs turn ‘an AI’ into an HR operating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5D691-2298-4153-BC6E-39131F0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A7BBC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7BBC5"/>
                </a:solidFill>
                <a:latin typeface="Aptos"/>
                <a:ea typeface="Aptos"/>
                <a:cs typeface="Aptos"/>
              </a:rPr>
              <a:t>Remove any one of them and the system collapses into a toy, a search box, or a black box.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8C336-FC91-4FC7-B480-59ED504F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671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A9BB2-0E31-4989-B1AC-A45E65C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04B"/>
            </a:solidFill>
            <a:prstDash val="solid"/>
          </a:ln>
        </p:spPr>
      </p:sp>
      <p:sp>
        <p:nvSpPr>
          <p:cNvPr id="6" name="pillar-FLEET">
            <a:extLst xmlns:a="http://schemas.openxmlformats.org/drawingml/2006/main">
              <a:ext uri="{FF2B5EF4-FFF2-40B4-BE49-F238E27FC236}">
                <a16:creationId xmlns:a16="http://schemas.microsoft.com/office/drawing/2014/main" id="{BECDD798-68E7-43B9-A4B7-F31B9EA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2571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0363B"/>
          </a:solidFill>
          <a:ln xmlns:a="http://schemas.openxmlformats.org/drawingml/2006/main" w="9525">
            <a:solidFill>
              <a:srgbClr val="4DE1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A038C-C167-4879-B74B-9D7E622F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48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D9FF5-2859-4428-AC2F-6BD4F63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299CE-8FF9-4EEB-8B25-5D6F00F1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F0BDA-13E2-4D1E-97BF-7635500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Five specialized agents do the work: triage, policy Q&amp;A, resume review, onboarding, and attrition advisory.</a:t>
            </a:r>
          </a:p>
        </p:txBody>
      </p:sp>
      <p:sp>
        <p:nvSpPr>
          <p:cNvPr id="11" name="pillar-POLICY EVIDENCE">
            <a:extLst xmlns:a="http://schemas.openxmlformats.org/drawingml/2006/main">
              <a:ext uri="{FF2B5EF4-FFF2-40B4-BE49-F238E27FC236}">
                <a16:creationId xmlns:a16="http://schemas.microsoft.com/office/drawing/2014/main" id="{C5ECD063-AA99-4C9D-AF71-1D2415B5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3D3320"/>
          </a:solidFill>
          <a:ln xmlns:a="http://schemas.openxmlformats.org/drawingml/2006/main" w="9525">
            <a:solidFill>
              <a:srgbClr val="F5C7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90E8B-2BB9-4E58-9DFE-26FD3E8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03069-B571-4DD0-8AA7-FB3E8CA3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POLICY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D5DAA-ADE9-4123-B2F4-99ED7775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48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71ABD-3E16-4203-BD1C-1A6D43B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Versioned policy chunks and citations keep answers tied to the organization’s own documents.</a:t>
            </a:r>
          </a:p>
        </p:txBody>
      </p:sp>
      <p:sp>
        <p:nvSpPr>
          <p:cNvPr id="16" name="pillar-GOVERNANCE">
            <a:extLst xmlns:a="http://schemas.openxmlformats.org/drawingml/2006/main">
              <a:ext uri="{FF2B5EF4-FFF2-40B4-BE49-F238E27FC236}">
                <a16:creationId xmlns:a16="http://schemas.microsoft.com/office/drawing/2014/main" id="{79736ECE-D25D-4E10-A839-9AD8423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571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3D2424"/>
          </a:solidFill>
          <a:ln xmlns:a="http://schemas.openxmlformats.org/drawingml/2006/main" w="9525">
            <a:solidFill>
              <a:srgbClr val="FF6B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0D0F9-7C42-4BB6-89DB-86EEB03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1740F-C767-45D9-B791-0CA5C0C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E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4B620-59E8-4CF6-A054-2F75647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4D4DC-33A9-45AB-A0DA-EF77E206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Approvals, RBAC, PII controls, bias guardrails, and immutable audit make the system deployable.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20AAA-D5F7-4966-A300-A55B884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Govern.ai = action that can explain itself and stop safely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6F725-67A7-4966-AC65-9344AEA2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93C3A-2AAF-41A4-B699-DEFB3E7A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Source: PRODUCT.md · README.md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6F6D7-15B6-45D0-9AB8-18F142F4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8511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28FF6-934B-4EA7-9D91-DE128693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THE FLEET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72840-FDE8-45AD-9AA9-53359D3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7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One console coordinates five workloads—with a human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23335-2E56-4186-B5F4-DBB5AA8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The system is designed for HR operators, not as a general-purpose employee dashboard.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aed1bf592414f"/>
          <a:srcRect xmlns:a="http://schemas.openxmlformats.org/drawingml/2006/main" l="0" t="21108" r="0" b="21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2590800"/>
            <a:ext cx="443865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sp>
        <p:nvSpPr>
          <p:cNvPr id="5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66C025BF-7436-4F07-8E64-2897FB7C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4386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E7C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6E99E-BE04-495A-9D4D-A31308FB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C89BC-7D3D-48D5-A790-2841A174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Ticket triage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E0ADE-1F19-457C-9F64-CDB7FAE4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Routes routine and urgent work; urgent cases escalate.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0FB3-2CDC-468A-8448-17EEDD7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A1BAB-31B0-4ED1-9C9C-A43B2DA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Policy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FE350-6336-4CD9-9B80-1934AE2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5757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Answers from versioned evidence; weak evidence triggers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AE6CE-F5DD-40B2-9D33-961C0C1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0E7E5-7B8A-4CB6-AC9E-F7BF677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Resume screening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6EEA0-B539-4F9F-BB08-04610A26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Transparent advisory rubric; never auto-rejects.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924F2-F6E1-40A7-82A2-2B877C2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9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79D7D-08ED-4E63-BEB3-FDE34142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D67D0-56C4-4ACA-B52A-07C6954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Runs a checklist and pauses sensitive steps for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388D9-8AEB-4926-BEC6-19C79D32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5F35B-9E5E-4598-A8CE-A155AB33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Attrition advisory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5A2B8-0B06-4C1A-ABD4-8B0AD8C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35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Surfaces risk factors; never a punitive verdict.</a:t>
            </a:r>
          </a:p>
        </p:txBody>
      </p:sp>
      <p:sp>
        <p:nvSpPr>
          <p:cNvPr id="21" name="pill-HR OPERATORS">
            <a:extLst xmlns:a="http://schemas.openxmlformats.org/drawingml/2006/main">
              <a:ext uri="{FF2B5EF4-FFF2-40B4-BE49-F238E27FC236}">
                <a16:creationId xmlns:a16="http://schemas.microsoft.com/office/drawing/2014/main" id="{0E46DFB3-46ED-4B03-9CFC-CF373D9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43575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DDF8F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HR OPERATORS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6C7CF-405B-4772-BD14-E702CE4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6189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71808C"/>
                </a:solidFill>
                <a:latin typeface="Aptos"/>
                <a:ea typeface="Aptos"/>
                <a:cs typeface="Aptos"/>
              </a:rPr>
              <a:t>Employees get a focused, chat-first surface; the command center is reserved for the people who operate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0D171-C401-4EE6-87EF-B4E072B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EF4C6-B096-42E8-A043-29BCC37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PRODUCT.md · docs/webapp-test-chat-result.png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9B213-1D1C-4FC2-85A7-0E9F4CB8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3965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97EED-4C72-4DD7-BEF6-479924B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FLAGSHIP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4DE7-7241-49CF-8904-D4BA3A2D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proof is an auditable resume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5131A-D709-4074-B302-99796BE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A7BBC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7BBC5"/>
                </a:solidFill>
                <a:latin typeface="Aptos"/>
                <a:ea typeface="Aptos"/>
                <a:cs typeface="Aptos"/>
              </a:rPr>
              <a:t>Decision support is useful only when the handoff is transparent, PII-safe, and human-approved.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4b64d91f4853"/>
          <a:stretch xmlns:a="http://schemas.openxmlformats.org/drawingml/2006/main"/>
        </p:blipFill>
        <p:spPr>
          <a:xfrm xmlns:a="http://schemas.openxmlformats.org/drawingml/2006/main">
            <a:off x="5810250" y="2729632"/>
            <a:ext cx="5695950" cy="28274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F09EC-7EA0-4B6D-B68E-E3EEFF81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14EC7-5E46-46DB-888B-0D81C0B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4BCE9-A3E0-4E87-824E-B5BCBD7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Resume arrives as PDF, image, or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330AD-926B-4521-89AD-5AC0100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9BE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9BE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377A7-5B26-4395-8DFE-0B82D86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Blind +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09293-A18D-4BA0-8C7D-87D2BFE6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47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Identity is blinded; skills and experience become a typed profile.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84836-FA52-4236-978A-062AD91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C7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C7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CD995-5975-4485-83D7-28C14CA5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 + 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39736-5623-4F58-9795-C2F7872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041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Policy guard checks the rubric and generates reasons—not a verdict.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61B89-B8BC-4B9E-B634-4B52DA85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6130B-DB79-4E5E-A06C-A66747D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+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6F0EE-B1BB-4328-84F4-B30DC86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92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6C6CE"/>
                </a:solidFill>
                <a:latin typeface="Aptos"/>
                <a:ea typeface="Aptos"/>
                <a:cs typeface="Aptos"/>
              </a:rPr>
              <a:t>A human checkpoint closes the loop and records the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ED5F3-B45C-4028-BF95-4922B47B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17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A2A-shaped handoffs carry certified, PII-safe artifacts—not raw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7A430-2B3D-400C-A0BA-E527BD4E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50A7D-ACD2-4C2A-938E-DE8F426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Source: PRODUCT.md · A2A_TECHNICAL_PLAN.md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4C377-A478-410E-8A12-C350018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5565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CB4C4A-813D-4A42-8229-8BE599B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RUNTIME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F815B-0466-4F74-900C-B58B781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7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Provider routing is explicit, cost-bounded, and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30622-0016-473A-AB54-D831F940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The durable control plane keeps workflows useful even when model inference is unavailable.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08f7bc44a49a9"/>
          <a:stretch xmlns:a="http://schemas.openxmlformats.org/drawingml/2006/main"/>
        </p:blipFill>
        <p:spPr>
          <a:xfrm xmlns:a="http://schemas.openxmlformats.org/drawingml/2006/main">
            <a:off x="5334000" y="2696045"/>
            <a:ext cx="6172200" cy="284703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A159B-332A-4734-9771-007A23C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38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0E7C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5078C-3CF0-46F1-8E55-ECEBC7CA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Deterministic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C3520-34EE-4D27-AD50-378391F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Obvious triage, local scoring, and templated explanations use zero model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03116-5690-417C-A543-3CDBCAD4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38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9B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E9BBC-BFDE-4FBE-94CD-883BC5A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Fireworks online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2F38B-D2C7-4AAB-97CB-249432C4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Interactive ambiguity, grounded synthesis, and streaming are opt-in and allowlisted.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10D34-F5C5-4DE5-A912-CBBB1373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038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E3DF"/>
          </a:solidFill>
          <a:ln xmlns:a="http://schemas.openxmlformats.org/drawingml/2006/main" w="9525">
            <a:solidFill>
              <a:srgbClr val="FF6B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6694C-F556-4794-861D-5A810B6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AMD / vLLM 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13375-98C1-414C-8851-2B359851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1808C"/>
                </a:solidFill>
                <a:latin typeface="Aptos"/>
                <a:ea typeface="Aptos"/>
                <a:cs typeface="Aptos"/>
              </a:rPr>
              <a:t>A self-hosted route exists; live hardware claims stay gated by named runtime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9F0D5-9979-4D18-AD53-204076E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62BCE-7F8C-46F3-9290-8DEE1CF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README.md · CLAIMS.md · technical-architecture.png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079FA-BBC7-44B5-A659-5AD7FF9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7397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5E9C4-DF37-45F6-84A5-0316F1D5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TRUST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F0533-9E8D-4274-9BBD-DC24C01F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 is product behavior—not a footer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8512D-A311-4236-BEB6-7C1A1703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0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A7BBC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7BBC5"/>
                </a:solidFill>
                <a:latin typeface="Aptos"/>
                <a:ea typeface="Aptos"/>
                <a:cs typeface="Aptos"/>
              </a:rPr>
              <a:t>The system makes the safe path visible: role boundaries, human approvals, redaction, and evidence all live in the workflow.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dad0c8f4d42ac"/>
          <a:stretch xmlns:a="http://schemas.openxmlformats.org/drawingml/2006/main"/>
        </p:blipFill>
        <p:spPr>
          <a:xfrm xmlns:a="http://schemas.openxmlformats.org/drawingml/2006/main">
            <a:off x="769010" y="2571750"/>
            <a:ext cx="573908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C1726-F29C-484B-AAFE-40F00C8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13C44-B513-4198-9407-70C65B1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checkpoints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9E729-9990-4895-AF4D-4ED0D9A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622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Sensitive actions pause for explicit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6C547-CAF9-4F7F-A978-3E90F39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B00B9-2289-4054-92A4-27A2C90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Least privilege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339ED-52B3-4FF5-89C4-FAB3CF4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052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223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Viewer → analyst → manager → admin scopes the surface and the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50973-B0FF-4A53-83DF-B5E4B38C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AEB11-44FC-4EB4-B357-EAF4C963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PII 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7E940-C829-4B07-B3FA-4CED237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48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75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Audit and provider payloads use redacted representations.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465C9-95D2-4D71-B401-BA55CA80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9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F93E0-9C7A-4B7E-9A53-7978AB84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4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Append-only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78C79-2CD6-4EA5-A742-B465FD9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4203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125">
                <a:solidFill>
                  <a:srgbClr val="B6C6CE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6C6CE"/>
                </a:solidFill>
                <a:latin typeface="Aptos"/>
                <a:ea typeface="Aptos"/>
                <a:cs typeface="Aptos"/>
              </a:rPr>
              <a:t>Every agent action and human decision is exportable for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7DEC7-941D-4EBA-BEAA-6B3AE57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C1BF1-D08E-40EF-8212-D442AA6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DB2B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9DB2BF"/>
                </a:solidFill>
                <a:latin typeface="Aptos"/>
                <a:ea typeface="Aptos"/>
                <a:cs typeface="Aptos"/>
              </a:rPr>
              <a:t>Source: MISSION.md · SECURITY.md · platform-risk-controls.png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A0C79-BA3B-48EC-93A1-B2EFC99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2898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88C29E-7FE1-4858-9AFB-578E5A1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THE HONEST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E942F-7F43-465D-AD16-94C6330D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468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A deployable reference today; measured depth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F720-C2B1-430A-8F66-18B317E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206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71808C"/>
                </a:solidFill>
                <a:latin typeface="Aptos"/>
                <a:ea typeface="Aptos"/>
                <a:cs typeface="Aptos"/>
              </a:rPr>
              <a:t>Govern.ai is designed to make trustworthy AI in HR inspectable now—and to earn stronger claims with evidence, not optimism.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9DF34-7B56-4DAB-91F4-186CC1B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895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0810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8F67-97A9-404D-A465-DA552A0B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DE1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DE1D3"/>
                </a:solidFill>
                <a:latin typeface="Aptos"/>
                <a:ea typeface="Aptos"/>
                <a:cs typeface="Aptos"/>
              </a:rPr>
              <a:t>Proven in the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ECFC4-BBBA-40DE-9E65-CB6567B7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26FB-38EA-4D7F-9A15-5452367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Zero-secret deterministic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5CD14-0883-41B5-AE9F-203433F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11754-6253-4C2A-BAD8-21928E0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RAG with pgvector +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73A94-991C-4B04-9D80-AD1FA3C0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7AA4F-29A1-4495-94F0-66EF951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gates + immutable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CA841-255A-42DA-8F8A-8A4D496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D75BD-9E17-4360-A848-7CCA14D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Provider-neutral routing + batch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2B573-616A-4764-A7C7-17A4A8F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524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9525">
            <a:solidFill>
              <a:srgbClr val="0E7C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98ADC-9B30-484B-8923-E33A350E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Gates still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65D09-491C-421A-AFC9-24C7620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B1A39-9500-4822-AD25-F39A34F7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Credentialed Fireworks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090FC-ACA3-45A9-83DB-FD22DDE2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45322-2530-4E0C-89D7-43F418B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481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Named AMD/ROCm/vLLM runtime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BEF71-98EC-42F6-9AE0-E1F1281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21A4A-45DF-4EDE-A963-6F22F977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Hardware benchmark + numerical error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37CCF-6279-4AC7-8402-228880EB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17EAD-A8FA-467A-805B-F9682599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63746"/>
                </a:solidFill>
                <a:latin typeface="Aptos"/>
                <a:ea typeface="Aptos"/>
                <a:cs typeface="Aptos"/>
              </a:rPr>
              <a:t>Tenant isolation + enterprise 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EA46B-58D2-42A1-B78C-0911A80E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101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1018"/>
                </a:solidFill>
                <a:latin typeface="Aptos"/>
                <a:ea typeface="Aptos"/>
                <a:cs typeface="Aptos"/>
              </a:rPr>
              <a:t>Build HR automation people can question, review, and trust.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52861-E2AA-4ADD-8F4E-153C1B64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3D891-4D9D-4413-8C1A-3B400D6F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8C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71808C"/>
                </a:solidFill>
                <a:latin typeface="Aptos"/>
                <a:ea typeface="Aptos"/>
                <a:cs typeface="Aptos"/>
              </a:rPr>
              <a:t>Source: README.md · CLAIMS.md · HACKATHON_JUDGE_BRIEF.md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F5AEF-E75C-47BF-AC7C-7A1E587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753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2026-07-12T10:16:03.5640000Z</dcterms:created>
  <dcterms:modified xsi:type="dcterms:W3CDTF">2026-07-12T10:16:03.5640000Z</dcterms:modified>
</coreProperties>
</file>
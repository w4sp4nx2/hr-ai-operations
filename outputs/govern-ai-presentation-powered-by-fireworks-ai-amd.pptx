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f1a12f2a9b904e2d" /><Relationship Type="http://schemas.openxmlformats.org/officeDocument/2006/relationships/extended-properties" Target="/docProps/app.xml" Id="Ra7954c977fee48ad" /><Relationship Type="http://schemas.openxmlformats.org/officeDocument/2006/relationships/officeDocument" Target="/ppt/presentation.xml" Id="R62e65a1e62784ad8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12c7b8c6860d4d00"/>
  </p:sldMasterIdLst>
  <p:notesMasterIdLst>
    <p:notesMasterId xmlns:r="http://schemas.openxmlformats.org/officeDocument/2006/relationships" r:id="R0fdfe5a0bb484b9b"/>
  </p:notesMasterIdLst>
  <p:sldIdLst>
    <p:sldId xmlns:r="http://schemas.openxmlformats.org/officeDocument/2006/relationships" id="256" r:id="R212fa4c4a402469b"/>
    <p:sldId xmlns:r="http://schemas.openxmlformats.org/officeDocument/2006/relationships" id="257" r:id="R353a1d7a727544ed"/>
    <p:sldId xmlns:r="http://schemas.openxmlformats.org/officeDocument/2006/relationships" id="258" r:id="Rd1085977dfb045d0"/>
    <p:sldId xmlns:r="http://schemas.openxmlformats.org/officeDocument/2006/relationships" id="259" r:id="R0e642b055dd24fdd"/>
    <p:sldId xmlns:r="http://schemas.openxmlformats.org/officeDocument/2006/relationships" id="260" r:id="R8be5a35e7b484d49"/>
    <p:sldId xmlns:r="http://schemas.openxmlformats.org/officeDocument/2006/relationships" id="261" r:id="Rb78f27e3a5a04484"/>
    <p:sldId xmlns:r="http://schemas.openxmlformats.org/officeDocument/2006/relationships" id="262" r:id="R3db98b49e1e349e6"/>
    <p:sldId xmlns:r="http://schemas.openxmlformats.org/officeDocument/2006/relationships" id="263" r:id="Ra2ae90ddf71d4d4f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55e65733178d477b" /><Relationship Type="http://schemas.openxmlformats.org/officeDocument/2006/relationships/slideMaster" Target="/ppt/slideMasters/slideMaster1.xml" Id="R12c7b8c6860d4d00" /><Relationship Type="http://schemas.openxmlformats.org/officeDocument/2006/relationships/notesMaster" Target="/ppt/notesMasters/notesMaster1.xml" Id="R0fdfe5a0bb484b9b" /><Relationship Type="http://schemas.openxmlformats.org/officeDocument/2006/relationships/presProps" Target="/ppt/presProps.xml" Id="R0f912e4ab51f46e4" /><Relationship Type="http://schemas.openxmlformats.org/officeDocument/2006/relationships/tableStyles" Target="/ppt/tableStyles.xml" Id="R150c30acf6af405b" /><Relationship Type="http://schemas.openxmlformats.org/officeDocument/2006/relationships/slide" Target="/ppt/slides/slide1.xml" Id="R212fa4c4a402469b" /><Relationship Type="http://schemas.openxmlformats.org/officeDocument/2006/relationships/slide" Target="/ppt/slides/slide2.xml" Id="R353a1d7a727544ed" /><Relationship Type="http://schemas.openxmlformats.org/officeDocument/2006/relationships/slide" Target="/ppt/slides/slide3.xml" Id="Rd1085977dfb045d0" /><Relationship Type="http://schemas.openxmlformats.org/officeDocument/2006/relationships/slide" Target="/ppt/slides/slide4.xml" Id="R0e642b055dd24fdd" /><Relationship Type="http://schemas.openxmlformats.org/officeDocument/2006/relationships/slide" Target="/ppt/slides/slide5.xml" Id="R8be5a35e7b484d49" /><Relationship Type="http://schemas.openxmlformats.org/officeDocument/2006/relationships/slide" Target="/ppt/slides/slide6.xml" Id="Rb78f27e3a5a04484" /><Relationship Type="http://schemas.openxmlformats.org/officeDocument/2006/relationships/slide" Target="/ppt/slides/slide7.xml" Id="R3db98b49e1e349e6" /><Relationship Type="http://schemas.openxmlformats.org/officeDocument/2006/relationships/slide" Target="/ppt/slides/slide8.xml" Id="Ra2ae90ddf71d4d4f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ae004548203d4f21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0cadad52194d45e0" /><Relationship Type="http://schemas.openxmlformats.org/officeDocument/2006/relationships/notesMaster" Target="/ppt/notesMasters/notesMaster1.xml" Id="Rde2b8012f51640c0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ee6c9a52dc8a41d7" /><Relationship Type="http://schemas.openxmlformats.org/officeDocument/2006/relationships/notesMaster" Target="/ppt/notesMasters/notesMaster1.xml" Id="Ra57d617e740142ce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b87b7d9a805a42c7" /><Relationship Type="http://schemas.openxmlformats.org/officeDocument/2006/relationships/notesMaster" Target="/ppt/notesMasters/notesMaster1.xml" Id="R313f271f10b940b2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8ea739e5a7c141eb" /><Relationship Type="http://schemas.openxmlformats.org/officeDocument/2006/relationships/notesMaster" Target="/ppt/notesMasters/notesMaster1.xml" Id="R488fb6605514439a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08279b03da5d4575" /><Relationship Type="http://schemas.openxmlformats.org/officeDocument/2006/relationships/notesMaster" Target="/ppt/notesMasters/notesMaster1.xml" Id="R40704e0d13b2488c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06babc4b272c43ae" /><Relationship Type="http://schemas.openxmlformats.org/officeDocument/2006/relationships/notesMaster" Target="/ppt/notesMasters/notesMaster1.xml" Id="R81033910846d47d7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43cfe1bc9ec14ca8" /><Relationship Type="http://schemas.openxmlformats.org/officeDocument/2006/relationships/notesMaster" Target="/ppt/notesMasters/notesMaster1.xml" Id="R84f340003d9c4ddb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2ea8851a0b224c20" /><Relationship Type="http://schemas.openxmlformats.org/officeDocument/2006/relationships/notesMaster" Target="/ppt/notesMasters/notesMaster1.xml" Id="R4393095b34274260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254b93b6b8d4a80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74f86922d4f04810" /><Relationship Type="http://schemas.openxmlformats.org/officeDocument/2006/relationships/slideLayout" Target="/ppt/slideLayouts/slideLayout1.xml" Id="Rf38ff56ec20d4847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f38ff56ec20d4847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ed6824f914d4c5f" /><Relationship Type="http://schemas.openxmlformats.org/officeDocument/2006/relationships/image" Target="/ppt/media/image.png" Id="R1fa32c07c1444a73" /><Relationship Type="http://schemas.openxmlformats.org/officeDocument/2006/relationships/notesSlide" Target="/ppt/notesSlides/notesSlide1.xml" Id="R06d50a694d774ba0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373f179337847fc" /><Relationship Type="http://schemas.openxmlformats.org/officeDocument/2006/relationships/notesSlide" Target="/ppt/notesSlides/notesSlide2.xml" Id="Rfd3384b048824098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cded763e0494c79" /><Relationship Type="http://schemas.openxmlformats.org/officeDocument/2006/relationships/notesSlide" Target="/ppt/notesSlides/notesSlide3.xml" Id="Rac0be94b3b0941d8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0921db521394281" /><Relationship Type="http://schemas.openxmlformats.org/officeDocument/2006/relationships/image" Target="/ppt/media/image.jpeg" Id="R36921407a4484ceb" /><Relationship Type="http://schemas.openxmlformats.org/officeDocument/2006/relationships/notesSlide" Target="/ppt/notesSlides/notesSlide4.xml" Id="Rf20b19f11e774bfd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a8a4e441e5f47a1" /><Relationship Type="http://schemas.openxmlformats.org/officeDocument/2006/relationships/image" Target="/ppt/media/image2.png" Id="Re1477e4ed59d4d3b" /><Relationship Type="http://schemas.openxmlformats.org/officeDocument/2006/relationships/notesSlide" Target="/ppt/notesSlides/notesSlide5.xml" Id="Rf44e4f2f301c4469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78af7460ecb4df0" /><Relationship Type="http://schemas.openxmlformats.org/officeDocument/2006/relationships/image" Target="/ppt/media/image3.png" Id="R0d227b3c07564ff5" /><Relationship Type="http://schemas.openxmlformats.org/officeDocument/2006/relationships/notesSlide" Target="/ppt/notesSlides/notesSlide6.xml" Id="R2d40b8c841d242d0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48125dd8e66497f" /><Relationship Type="http://schemas.openxmlformats.org/officeDocument/2006/relationships/image" Target="/ppt/media/image4.png" Id="R736efc0a411b49d6" /><Relationship Type="http://schemas.openxmlformats.org/officeDocument/2006/relationships/notesSlide" Target="/ppt/notesSlides/notesSlide7.xml" Id="R91c145f1fc1b4a59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4c6b572446b4718" /><Relationship Type="http://schemas.openxmlformats.org/officeDocument/2006/relationships/notesSlide" Target="/ppt/notesSlides/notesSlide8.xml" Id="R4ab660c901b04f18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8101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fa32c07c1444a73"/>
          <a:srcRect xmlns:a="http://schemas.openxmlformats.org/drawingml/2006/main" l="0" t="27" r="0" b="2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94C303D-3F8D-4603-B861-5F16D5FE68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7239000" cy="68580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8000">
                <a:srgbClr val="081018"/>
              </a:gs>
              <a:gs pos="44000">
                <a:srgbClr val="081018">
                  <a:alpha val="92000"/>
                </a:srgbClr>
              </a:gs>
              <a:gs pos="100000">
                <a:srgbClr val="081018">
                  <a:alpha val="0"/>
                </a:srgbClr>
              </a:gs>
            </a:gsLst>
            <a:lin ang="0"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B293009-B2A0-4EF8-B8E3-E22EA2BF82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081018">
                  <a:alpha val="25000"/>
                </a:srgbClr>
              </a:gs>
              <a:gs pos="70000">
                <a:srgbClr val="081018">
                  <a:alpha val="0"/>
                </a:srgbClr>
              </a:gs>
            </a:gsLst>
            <a:lin ang="0"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4" name="pill-HR OPERATIONS · GOVERNANCE BY DESIGN">
            <a:extLst xmlns:a="http://schemas.openxmlformats.org/drawingml/2006/main">
              <a:ext uri="{FF2B5EF4-FFF2-40B4-BE49-F238E27FC236}">
                <a16:creationId xmlns:a16="http://schemas.microsoft.com/office/drawing/2014/main" id="{AB08198D-506A-49A5-B722-331543C671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04850"/>
            <a:ext cx="270510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2343B"/>
          </a:solidFill>
          <a:ln xmlns:a="http://schemas.openxmlformats.org/drawingml/2006/main" w="9525">
            <a:solidFill>
              <a:srgbClr val="2D6970"/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buNone/>
              <a:defRPr sz="975" b="1">
                <a:solidFill>
                  <a:srgbClr val="4DE1D3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4DE1D3"/>
                </a:solidFill>
                <a:latin typeface="Aptos"/>
                <a:ea typeface="Aptos"/>
                <a:cs typeface="Aptos"/>
              </a:rPr>
              <a:t>HR OPERATIONS · GOVERNANCE BY DESIGN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7C73F46-7930-4E19-B94B-2BC426539E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28750"/>
            <a:ext cx="57150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90000"/>
              </a:lnSpc>
              <a:buNone/>
              <a:defRPr sz="48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48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Govern.ai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EC81376-B1E2-413C-B0C7-EB0CAB8C26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00300"/>
            <a:ext cx="590550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95000"/>
              </a:lnSpc>
              <a:buNone/>
              <a:defRPr sz="31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31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The operating layer for</a:t>
            </a:r>
          </a:p>
          <a:p xmlns:a="http://schemas.openxmlformats.org/drawingml/2006/main">
            <a:pPr>
              <a:lnSpc>
                <a:spcPct val="95000"/>
              </a:lnSpc>
              <a:buNone/>
              <a:defRPr sz="31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31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trustworthy HR work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687F709-68B5-4984-97F2-C07A21FF84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981450"/>
            <a:ext cx="49530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99826"/>
          </a:bodyPr>
          <a:lstStyle xmlns:a="http://schemas.openxmlformats.org/drawingml/2006/main"/>
          <a:p xmlns:a="http://schemas.openxmlformats.org/drawingml/2006/main">
            <a:pPr>
              <a:lnSpc>
                <a:spcPct val="118000"/>
              </a:lnSpc>
              <a:buNone/>
              <a:defRPr sz="1575">
                <a:solidFill>
                  <a:srgbClr val="C9D7DD"/>
                </a:solidFill>
                <a:latin typeface="Aptos"/>
                <a:ea typeface="Aptos"/>
                <a:cs typeface="Aptos"/>
              </a:defRPr>
            </a:pPr>
            <a:r>
              <a:rPr sz="1575">
                <a:solidFill>
                  <a:srgbClr val="C9D7DD"/>
                </a:solidFill>
                <a:latin typeface="Aptos"/>
                <a:ea typeface="Aptos"/>
                <a:cs typeface="Aptos"/>
              </a:rPr>
              <a:t>Specialized agents act. Policy evidence grounds.</a:t>
            </a:r>
          </a:p>
          <a:p xmlns:a="http://schemas.openxmlformats.org/drawingml/2006/main">
            <a:pPr>
              <a:lnSpc>
                <a:spcPct val="118000"/>
              </a:lnSpc>
              <a:buNone/>
              <a:defRPr sz="1575">
                <a:solidFill>
                  <a:srgbClr val="C9D7DD"/>
                </a:solidFill>
                <a:latin typeface="Aptos"/>
                <a:ea typeface="Aptos"/>
                <a:cs typeface="Aptos"/>
              </a:defRPr>
            </a:pPr>
            <a:r>
              <a:rPr sz="1575">
                <a:solidFill>
                  <a:srgbClr val="C9D7DD"/>
                </a:solidFill>
                <a:latin typeface="Aptos"/>
                <a:ea typeface="Aptos"/>
                <a:cs typeface="Aptos"/>
              </a:rPr>
              <a:t>Human checkpoints keep sensitive decisions in control.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DA61D61-E6FC-4364-B241-9045468C77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572125"/>
            <a:ext cx="5143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125" b="1">
                <a:solidFill>
                  <a:srgbClr val="F5C76A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5C76A"/>
                </a:solidFill>
                <a:latin typeface="Aptos"/>
                <a:ea typeface="Aptos"/>
                <a:cs typeface="Aptos"/>
              </a:rPr>
              <a:t>Powered by Fireworks AI and AMD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681BC78-172B-42EE-AB36-4C15A88A91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29375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4404B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628C32A-1606-4DC1-84F2-6CA62D4B61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34150"/>
            <a:ext cx="4572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825">
                <a:solidFill>
                  <a:srgbClr val="9DB2BF"/>
                </a:solidFill>
                <a:latin typeface="Aptos"/>
                <a:ea typeface="Aptos"/>
                <a:cs typeface="Aptos"/>
              </a:defRPr>
            </a:pPr>
            <a:r>
              <a:rPr sz="825">
                <a:solidFill>
                  <a:srgbClr val="9DB2BF"/>
                </a:solidFill>
                <a:latin typeface="Aptos"/>
                <a:ea typeface="Aptos"/>
                <a:cs typeface="Aptos"/>
              </a:rPr>
              <a:t>Govern.ai · HR Command Center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70ED457-9298-48C6-8707-AB88A16F9E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15100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900" b="1">
                <a:solidFill>
                  <a:srgbClr val="4DE1D3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4DE1D3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1853385684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317C05DB-E258-49E4-A50A-9C2CFC07E7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4000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975" b="1">
                <a:solidFill>
                  <a:srgbClr val="0E7C79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0E7C79"/>
                </a:solidFill>
                <a:latin typeface="Aptos"/>
                <a:ea typeface="Aptos"/>
                <a:cs typeface="Aptos"/>
              </a:rPr>
              <a:t>THE TENSION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F070FC7-B232-4252-95F1-4E5F0105B9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87630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97584"/>
          </a:bodyPr>
          <a:lstStyle xmlns:a="http://schemas.openxmlformats.org/drawingml/2006/main"/>
          <a:p xmlns:a="http://schemas.openxmlformats.org/drawingml/2006/main">
            <a:pPr>
              <a:lnSpc>
                <a:spcPct val="96000"/>
              </a:lnSpc>
              <a:buNone/>
              <a:defRPr sz="3150" b="1">
                <a:solidFill>
                  <a:srgbClr val="081018"/>
                </a:solidFill>
                <a:latin typeface="Aptos"/>
                <a:ea typeface="Aptos"/>
                <a:cs typeface="Aptos"/>
              </a:defRPr>
            </a:pPr>
            <a:r>
              <a:rPr sz="3150" b="1">
                <a:solidFill>
                  <a:srgbClr val="081018"/>
                </a:solidFill>
                <a:latin typeface="Aptos"/>
                <a:ea typeface="Aptos"/>
                <a:cs typeface="Aptos"/>
              </a:rPr>
              <a:t>HR automation fails when action outruns evidence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44517E7-6997-4BB1-B12C-EB52A12376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95450"/>
            <a:ext cx="8667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96461"/>
          </a:bodyPr>
          <a:lstStyle xmlns:a="http://schemas.openxmlformats.org/drawingml/2006/main"/>
          <a:p xmlns:a="http://schemas.openxmlformats.org/drawingml/2006/main">
            <a:pPr>
              <a:lnSpc>
                <a:spcPct val="118000"/>
              </a:lnSpc>
              <a:buNone/>
              <a:defRPr sz="1425">
                <a:solidFill>
                  <a:srgbClr val="71808C"/>
                </a:solidFill>
                <a:latin typeface="Aptos"/>
                <a:ea typeface="Aptos"/>
                <a:cs typeface="Aptos"/>
              </a:defRPr>
            </a:pPr>
            <a:r>
              <a:rPr sz="1425">
                <a:solidFill>
                  <a:srgbClr val="71808C"/>
                </a:solidFill>
                <a:latin typeface="Aptos"/>
                <a:ea typeface="Aptos"/>
                <a:cs typeface="Aptos"/>
              </a:rPr>
              <a:t>A chatbot can answer. A real operating layer must coordinate work, show why it acted, and know when to stop.</a:t>
            </a:r>
          </a:p>
        </p:txBody>
      </p:sp>
      <p:sp>
        <p:nvSpPr>
          <p:cNvPr id="4" name="problem-quote">
            <a:extLst xmlns:a="http://schemas.openxmlformats.org/drawingml/2006/main">
              <a:ext uri="{FF2B5EF4-FFF2-40B4-BE49-F238E27FC236}">
                <a16:creationId xmlns:a16="http://schemas.microsoft.com/office/drawing/2014/main" id="{953D97D9-CD66-45F4-BF9D-7FA4934119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90800"/>
            <a:ext cx="4686300" cy="2990850"/>
          </a:xfrm>
          <a:prstGeom xmlns:a="http://schemas.openxmlformats.org/drawingml/2006/main" prst="roundRect">
            <a:avLst>
              <a:gd name="adj" fmla="val 2548"/>
            </a:avLst>
          </a:prstGeom>
          <a:solidFill xmlns:a="http://schemas.openxmlformats.org/drawingml/2006/main">
            <a:srgbClr val="081018"/>
          </a:solidFill>
          <a:ln xmlns:a="http://schemas.openxmlformats.org/drawingml/2006/main" w="9525">
            <a:solidFill>
              <a:srgbClr val="081018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749EDC8-85EF-4141-8021-8D0E2E1860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971800"/>
            <a:ext cx="3619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22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22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“Why did this happen?”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59C47C9-477F-43D2-8D40-FCF5768D3B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638550"/>
            <a:ext cx="3714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10000"/>
              </a:lnSpc>
              <a:buNone/>
              <a:defRPr sz="1650">
                <a:solidFill>
                  <a:srgbClr val="C9D7DD"/>
                </a:solidFill>
                <a:latin typeface="Aptos"/>
                <a:ea typeface="Aptos"/>
                <a:cs typeface="Aptos"/>
              </a:defRPr>
            </a:pPr>
            <a:r>
              <a:rPr sz="1650">
                <a:solidFill>
                  <a:srgbClr val="C9D7DD"/>
                </a:solidFill>
                <a:latin typeface="Aptos"/>
                <a:ea typeface="Aptos"/>
                <a:cs typeface="Aptos"/>
              </a:rPr>
              <a:t>In HR, the answer must be more than</a:t>
            </a:r>
          </a:p>
          <a:p xmlns:a="http://schemas.openxmlformats.org/drawingml/2006/main">
            <a:pPr>
              <a:lnSpc>
                <a:spcPct val="110000"/>
              </a:lnSpc>
              <a:buNone/>
              <a:defRPr sz="1650">
                <a:solidFill>
                  <a:srgbClr val="C9D7DD"/>
                </a:solidFill>
                <a:latin typeface="Aptos"/>
                <a:ea typeface="Aptos"/>
                <a:cs typeface="Aptos"/>
              </a:defRPr>
            </a:pPr>
            <a:r>
              <a:rPr sz="1650">
                <a:solidFill>
                  <a:srgbClr val="C9D7DD"/>
                </a:solidFill>
                <a:latin typeface="Aptos"/>
                <a:ea typeface="Aptos"/>
                <a:cs typeface="Aptos"/>
              </a:rPr>
              <a:t>‘the model said so.’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E0BDAD0-DE32-4ED1-A2FF-7BBBC2BA82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686300"/>
            <a:ext cx="3657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4404B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D6C8294-2694-4774-96A6-D4F7C4C46D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953000"/>
            <a:ext cx="1714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975" b="1">
                <a:solidFill>
                  <a:srgbClr val="4DE1D3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4DE1D3"/>
                </a:solidFill>
                <a:latin typeface="Aptos"/>
                <a:ea typeface="Aptos"/>
                <a:cs typeface="Aptos"/>
              </a:rPr>
              <a:t>The product thesis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0AC7DE8-3EE2-460A-B55E-8690B43B0E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5219700"/>
            <a:ext cx="3429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650" b="1">
                <a:solidFill>
                  <a:srgbClr val="F5C76A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F5C76A"/>
                </a:solidFill>
                <a:latin typeface="Aptos"/>
                <a:ea typeface="Aptos"/>
                <a:cs typeface="Aptos"/>
              </a:rPr>
              <a:t>Fleet + evidence + governance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FDBD8D8-9B29-477A-B70A-157C15DC6D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2650" y="2647950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6B5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F497C5E-C53A-4DEB-AB19-9A9502D8C9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2650" y="2743200"/>
            <a:ext cx="4191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975" b="1">
                <a:solidFill>
                  <a:srgbClr val="081018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081018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505E8F9-0AF7-4060-A382-B1226580A3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2628900"/>
            <a:ext cx="400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650" b="1">
                <a:solidFill>
                  <a:srgbClr val="081018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081018"/>
                </a:solidFill>
                <a:latin typeface="Aptos"/>
                <a:ea typeface="Aptos"/>
                <a:cs typeface="Aptos"/>
              </a:rPr>
              <a:t>Action without context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D24EA07-4119-44E3-BFAA-2ECDE36AAE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2952750"/>
            <a:ext cx="4476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275">
                <a:solidFill>
                  <a:srgbClr val="71808C"/>
                </a:solidFill>
                <a:latin typeface="Aptos"/>
                <a:ea typeface="Aptos"/>
                <a:cs typeface="Aptos"/>
              </a:defRPr>
            </a:pPr>
            <a:r>
              <a:rPr sz="1275">
                <a:solidFill>
                  <a:srgbClr val="71808C"/>
                </a:solidFill>
                <a:latin typeface="Aptos"/>
                <a:ea typeface="Aptos"/>
                <a:cs typeface="Aptos"/>
              </a:rPr>
              <a:t>A model can trigger a workflow without showing the policy or case evidence behind it.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2370747-6A4A-4CB7-89B4-CB23617013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2650" y="3657600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C76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F937895-E5D5-4F62-8592-6D6BC606A5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2650" y="3752850"/>
            <a:ext cx="4191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975" b="1">
                <a:solidFill>
                  <a:srgbClr val="081018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081018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D8CD750-2B9F-4C7F-8D6B-30F50FD5C3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3638550"/>
            <a:ext cx="400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650" b="1">
                <a:solidFill>
                  <a:srgbClr val="081018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081018"/>
                </a:solidFill>
                <a:latin typeface="Aptos"/>
                <a:ea typeface="Aptos"/>
                <a:cs typeface="Aptos"/>
              </a:rPr>
              <a:t>Automation without a stop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F2B71B4-C557-457B-ACBC-BFDD98D2D7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3962400"/>
            <a:ext cx="4476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275">
                <a:solidFill>
                  <a:srgbClr val="71808C"/>
                </a:solidFill>
                <a:latin typeface="Aptos"/>
                <a:ea typeface="Aptos"/>
                <a:cs typeface="Aptos"/>
              </a:defRPr>
            </a:pPr>
            <a:r>
              <a:rPr sz="1275">
                <a:solidFill>
                  <a:srgbClr val="71808C"/>
                </a:solidFill>
                <a:latin typeface="Aptos"/>
                <a:ea typeface="Aptos"/>
                <a:cs typeface="Aptos"/>
              </a:rPr>
              <a:t>Sensitive actions need a human checkpoint—not a hidden confidence threshold.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6B72BA8-5553-4B98-8733-7E310BABA0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2650" y="4667250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DE1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3247929-ABA5-48A7-906B-37749763F2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2650" y="4762500"/>
            <a:ext cx="4191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975" b="1">
                <a:solidFill>
                  <a:srgbClr val="081018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081018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3151772-CCC9-474A-A903-91A68A82B1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4648200"/>
            <a:ext cx="400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650" b="1">
                <a:solidFill>
                  <a:srgbClr val="081018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081018"/>
                </a:solidFill>
                <a:latin typeface="Aptos"/>
                <a:ea typeface="Aptos"/>
                <a:cs typeface="Aptos"/>
              </a:rPr>
              <a:t>Inference without a record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6BD10BA-666E-49E0-A3D2-A02C62DD40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4972050"/>
            <a:ext cx="4476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275">
                <a:solidFill>
                  <a:srgbClr val="71808C"/>
                </a:solidFill>
                <a:latin typeface="Aptos"/>
                <a:ea typeface="Aptos"/>
                <a:cs typeface="Aptos"/>
              </a:defRPr>
            </a:pPr>
            <a:r>
              <a:rPr sz="1275">
                <a:solidFill>
                  <a:srgbClr val="71808C"/>
                </a:solidFill>
                <a:latin typeface="Aptos"/>
                <a:ea typeface="Aptos"/>
                <a:cs typeface="Aptos"/>
              </a:rPr>
              <a:t>If the decision is not captured with who, when, and why, it cannot be audited.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6B6B27C-50AB-49FB-83A4-0811194D42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29375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6E1E7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C8B3000-9FC5-4904-8D4C-FD361BF3B2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34150"/>
            <a:ext cx="4572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825">
                <a:solidFill>
                  <a:srgbClr val="71808C"/>
                </a:solidFill>
                <a:latin typeface="Aptos"/>
                <a:ea typeface="Aptos"/>
                <a:cs typeface="Aptos"/>
              </a:defRPr>
            </a:pPr>
            <a:r>
              <a:rPr sz="825">
                <a:solidFill>
                  <a:srgbClr val="71808C"/>
                </a:solidFill>
                <a:latin typeface="Aptos"/>
                <a:ea typeface="Aptos"/>
                <a:cs typeface="Aptos"/>
              </a:rPr>
              <a:t>Source: PITCH.md · MISSION.md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224B9DE-9D58-441C-8203-6A041EBB40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15100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900" b="1">
                <a:solidFill>
                  <a:srgbClr val="0E7C79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0E7C79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17262745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0E1A2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8CFCA018-B620-41F3-9394-AA4C2F8DB8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4000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975" b="1">
                <a:solidFill>
                  <a:srgbClr val="4DE1D3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4DE1D3"/>
                </a:solidFill>
                <a:latin typeface="Aptos"/>
                <a:ea typeface="Aptos"/>
                <a:cs typeface="Aptos"/>
              </a:rPr>
              <a:t>THE PRODUCT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D6AEC41-23CA-45B8-B1FA-46A643FB05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87630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96000"/>
              </a:lnSpc>
              <a:buNone/>
              <a:defRPr sz="31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31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Three legs turn ‘an AI’ into an HR operating layer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D75D691-2298-4153-BC6E-39131F081F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95450"/>
            <a:ext cx="8667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18000"/>
              </a:lnSpc>
              <a:buNone/>
              <a:defRPr sz="1425">
                <a:solidFill>
                  <a:srgbClr val="A7BBC5"/>
                </a:solidFill>
                <a:latin typeface="Aptos"/>
                <a:ea typeface="Aptos"/>
                <a:cs typeface="Aptos"/>
              </a:defRPr>
            </a:pPr>
            <a:r>
              <a:rPr sz="1425">
                <a:solidFill>
                  <a:srgbClr val="A7BBC5"/>
                </a:solidFill>
                <a:latin typeface="Aptos"/>
                <a:ea typeface="Aptos"/>
                <a:cs typeface="Aptos"/>
              </a:rPr>
              <a:t>Remove any one of them and the system collapses into a toy, a search box, or a black box.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6D8C336-FC91-4FC7-B480-59ED504F85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3667125"/>
            <a:ext cx="1066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24404B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F3A9BB2-0E31-4989-B1AC-A45E65C019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3667125"/>
            <a:ext cx="1066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24404B"/>
            </a:solidFill>
            <a:prstDash val="solid"/>
          </a:ln>
        </p:spPr>
      </p:sp>
      <p:sp>
        <p:nvSpPr>
          <p:cNvPr id="6" name="pillar-FLEET">
            <a:extLst xmlns:a="http://schemas.openxmlformats.org/drawingml/2006/main">
              <a:ext uri="{FF2B5EF4-FFF2-40B4-BE49-F238E27FC236}">
                <a16:creationId xmlns:a16="http://schemas.microsoft.com/office/drawing/2014/main" id="{BECDD798-68E7-43B9-A4B7-F31B9EAADE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2781300"/>
            <a:ext cx="2571750" cy="2514600"/>
          </a:xfrm>
          <a:prstGeom xmlns:a="http://schemas.openxmlformats.org/drawingml/2006/main" prst="roundRect">
            <a:avLst>
              <a:gd name="adj" fmla="val 3030"/>
            </a:avLst>
          </a:prstGeom>
          <a:solidFill xmlns:a="http://schemas.openxmlformats.org/drawingml/2006/main">
            <a:srgbClr val="10363B"/>
          </a:solidFill>
          <a:ln xmlns:a="http://schemas.openxmlformats.org/drawingml/2006/main" w="9525">
            <a:solidFill>
              <a:srgbClr val="4DE1D3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04A038C-C167-4879-B74B-9D7E622F32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28850" y="3048000"/>
            <a:ext cx="742950" cy="742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DE1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BDD9FF5-2859-4428-AC2F-6BD4F63C1B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4000500"/>
            <a:ext cx="21526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900" b="1">
                <a:solidFill>
                  <a:srgbClr val="4DE1D3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4DE1D3"/>
                </a:solidFill>
                <a:latin typeface="Aptos"/>
                <a:ea typeface="Aptos"/>
                <a:cs typeface="Aptos"/>
              </a:rPr>
              <a:t>FLEET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48299CE-8FF9-4EEB-8B25-5D6F00F15C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4248150"/>
            <a:ext cx="21526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95238"/>
          </a:bodyPr>
          <a:lstStyle xmlns:a="http://schemas.openxmlformats.org/drawingml/2006/main"/>
          <a:p xmlns:a="http://schemas.openxmlformats.org/drawingml/2006/main">
            <a:pPr algn="ctr">
              <a:buNone/>
              <a:defRPr sz="21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Action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63F0BDA-13E2-4D1E-97BF-76355009C1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4667250"/>
            <a:ext cx="21145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89286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125">
                <a:solidFill>
                  <a:srgbClr val="B6C6CE"/>
                </a:solidFill>
                <a:latin typeface="Aptos"/>
                <a:ea typeface="Aptos"/>
                <a:cs typeface="Aptos"/>
              </a:defRPr>
            </a:pPr>
            <a:r>
              <a:rPr sz="1125">
                <a:solidFill>
                  <a:srgbClr val="B6C6CE"/>
                </a:solidFill>
                <a:latin typeface="Aptos"/>
                <a:ea typeface="Aptos"/>
                <a:cs typeface="Aptos"/>
              </a:rPr>
              <a:t>Five specialized agents do the work: triage, policy Q&amp;A, resume review, onboarding, and attrition advisory.</a:t>
            </a:r>
          </a:p>
        </p:txBody>
      </p:sp>
      <p:sp>
        <p:nvSpPr>
          <p:cNvPr id="11" name="pillar-POLICY EVIDENCE">
            <a:extLst xmlns:a="http://schemas.openxmlformats.org/drawingml/2006/main">
              <a:ext uri="{FF2B5EF4-FFF2-40B4-BE49-F238E27FC236}">
                <a16:creationId xmlns:a16="http://schemas.microsoft.com/office/drawing/2014/main" id="{C5ECD063-AA99-4C9D-AF71-1D2415B5AB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2781300"/>
            <a:ext cx="2571750" cy="2514600"/>
          </a:xfrm>
          <a:prstGeom xmlns:a="http://schemas.openxmlformats.org/drawingml/2006/main" prst="roundRect">
            <a:avLst>
              <a:gd name="adj" fmla="val 3030"/>
            </a:avLst>
          </a:prstGeom>
          <a:solidFill xmlns:a="http://schemas.openxmlformats.org/drawingml/2006/main">
            <a:srgbClr val="3D3320"/>
          </a:solidFill>
          <a:ln xmlns:a="http://schemas.openxmlformats.org/drawingml/2006/main" w="9525">
            <a:solidFill>
              <a:srgbClr val="F5C76A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BA90E8B-2BB9-4E58-9DFE-26FD3E86CA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4950" y="3048000"/>
            <a:ext cx="742950" cy="742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C76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BC03069-B571-4DD0-8AA7-FB3E8CA335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4000500"/>
            <a:ext cx="21526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900" b="1">
                <a:solidFill>
                  <a:srgbClr val="F5C76A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F5C76A"/>
                </a:solidFill>
                <a:latin typeface="Aptos"/>
                <a:ea typeface="Aptos"/>
                <a:cs typeface="Aptos"/>
              </a:rPr>
              <a:t>POLICY EVIDENCE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91D5DAA-ADE9-4123-B2F4-99ED7775E1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4248150"/>
            <a:ext cx="21526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95238"/>
          </a:bodyPr>
          <a:lstStyle xmlns:a="http://schemas.openxmlformats.org/drawingml/2006/main"/>
          <a:p xmlns:a="http://schemas.openxmlformats.org/drawingml/2006/main">
            <a:pPr algn="ctr">
              <a:buNone/>
              <a:defRPr sz="21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Grounding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2571ABD-3E16-4203-BD1C-1A6D43BFFB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4667250"/>
            <a:ext cx="21145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89286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125">
                <a:solidFill>
                  <a:srgbClr val="B6C6CE"/>
                </a:solidFill>
                <a:latin typeface="Aptos"/>
                <a:ea typeface="Aptos"/>
                <a:cs typeface="Aptos"/>
              </a:defRPr>
            </a:pPr>
            <a:r>
              <a:rPr sz="1125">
                <a:solidFill>
                  <a:srgbClr val="B6C6CE"/>
                </a:solidFill>
                <a:latin typeface="Aptos"/>
                <a:ea typeface="Aptos"/>
                <a:cs typeface="Aptos"/>
              </a:rPr>
              <a:t>Versioned policy chunks and citations keep answers tied to the organization’s own documents.</a:t>
            </a:r>
          </a:p>
        </p:txBody>
      </p:sp>
      <p:sp>
        <p:nvSpPr>
          <p:cNvPr id="16" name="pillar-GOVERNANCE">
            <a:extLst xmlns:a="http://schemas.openxmlformats.org/drawingml/2006/main">
              <a:ext uri="{FF2B5EF4-FFF2-40B4-BE49-F238E27FC236}">
                <a16:creationId xmlns:a16="http://schemas.microsoft.com/office/drawing/2014/main" id="{79736ECE-D25D-4E10-A839-9AD8423ABF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2781300"/>
            <a:ext cx="2571750" cy="2514600"/>
          </a:xfrm>
          <a:prstGeom xmlns:a="http://schemas.openxmlformats.org/drawingml/2006/main" prst="roundRect">
            <a:avLst>
              <a:gd name="adj" fmla="val 3030"/>
            </a:avLst>
          </a:prstGeom>
          <a:solidFill xmlns:a="http://schemas.openxmlformats.org/drawingml/2006/main">
            <a:srgbClr val="3D2424"/>
          </a:solidFill>
          <a:ln xmlns:a="http://schemas.openxmlformats.org/drawingml/2006/main" w="9525">
            <a:solidFill>
              <a:srgbClr val="FF6B5E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F20D0F9-7C42-4BB6-89DB-86EEB036FC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3048000"/>
            <a:ext cx="742950" cy="742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6B5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2E1740F-C767-45D9-B791-0CA5C0C9CB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4000500"/>
            <a:ext cx="21526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900" b="1">
                <a:solidFill>
                  <a:srgbClr val="FF6B5E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FF6B5E"/>
                </a:solidFill>
                <a:latin typeface="Aptos"/>
                <a:ea typeface="Aptos"/>
                <a:cs typeface="Aptos"/>
              </a:rPr>
              <a:t>GOVERNANCE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284B620-59E8-4CF6-A054-2F75647D3F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4248150"/>
            <a:ext cx="21526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95238"/>
          </a:bodyPr>
          <a:lstStyle xmlns:a="http://schemas.openxmlformats.org/drawingml/2006/main"/>
          <a:p xmlns:a="http://schemas.openxmlformats.org/drawingml/2006/main">
            <a:pPr algn="ctr">
              <a:buNone/>
              <a:defRPr sz="21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Trust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7E4D4DC-33A9-45AB-A0DA-EF77E2060B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4667250"/>
            <a:ext cx="21145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89286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125">
                <a:solidFill>
                  <a:srgbClr val="B6C6CE"/>
                </a:solidFill>
                <a:latin typeface="Aptos"/>
                <a:ea typeface="Aptos"/>
                <a:cs typeface="Aptos"/>
              </a:defRPr>
            </a:pPr>
            <a:r>
              <a:rPr sz="1125">
                <a:solidFill>
                  <a:srgbClr val="B6C6CE"/>
                </a:solidFill>
                <a:latin typeface="Aptos"/>
                <a:ea typeface="Aptos"/>
                <a:cs typeface="Aptos"/>
              </a:rPr>
              <a:t>Approvals, RBAC, PII controls, bias guardrails, and immutable audit make the system deployable.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1420AAA-D5F7-4966-A300-A55B8848CD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5810250"/>
            <a:ext cx="8001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Govern.ai = action that can explain itself and stop safely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BB6F725-67A7-4966-AC65-9344AEA24E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29375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4404B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9A93C3A-2AAF-41A4-B699-DEFB3E7A3E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34150"/>
            <a:ext cx="4572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825">
                <a:solidFill>
                  <a:srgbClr val="9DB2BF"/>
                </a:solidFill>
                <a:latin typeface="Aptos"/>
                <a:ea typeface="Aptos"/>
                <a:cs typeface="Aptos"/>
              </a:defRPr>
            </a:pPr>
            <a:r>
              <a:rPr sz="825">
                <a:solidFill>
                  <a:srgbClr val="9DB2BF"/>
                </a:solidFill>
                <a:latin typeface="Aptos"/>
                <a:ea typeface="Aptos"/>
                <a:cs typeface="Aptos"/>
              </a:rPr>
              <a:t>Source: PRODUCT.md · README.md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176F6D7-15B6-45D0-9AB8-18F142F489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15100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900" b="1">
                <a:solidFill>
                  <a:srgbClr val="4DE1D3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4DE1D3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238511554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54028FF6-934B-4EA7-9D91-DE1286938D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4000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975" b="1">
                <a:solidFill>
                  <a:srgbClr val="0E7C79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0E7C79"/>
                </a:solidFill>
                <a:latin typeface="Aptos"/>
                <a:ea typeface="Aptos"/>
                <a:cs typeface="Aptos"/>
              </a:rPr>
              <a:t>THE FLEET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5E72840-FDE8-45AD-9AA9-53359D3542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87630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88872"/>
          </a:bodyPr>
          <a:lstStyle xmlns:a="http://schemas.openxmlformats.org/drawingml/2006/main"/>
          <a:p xmlns:a="http://schemas.openxmlformats.org/drawingml/2006/main">
            <a:pPr>
              <a:lnSpc>
                <a:spcPct val="96000"/>
              </a:lnSpc>
              <a:buNone/>
              <a:defRPr sz="3150" b="1">
                <a:solidFill>
                  <a:srgbClr val="081018"/>
                </a:solidFill>
                <a:latin typeface="Aptos"/>
                <a:ea typeface="Aptos"/>
                <a:cs typeface="Aptos"/>
              </a:defRPr>
            </a:pPr>
            <a:r>
              <a:rPr sz="3150" b="1">
                <a:solidFill>
                  <a:srgbClr val="081018"/>
                </a:solidFill>
                <a:latin typeface="Aptos"/>
                <a:ea typeface="Aptos"/>
                <a:cs typeface="Aptos"/>
              </a:rPr>
              <a:t>One console coordinates five workloads—with a human boundary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D523335-2E56-4186-B5F4-DBB5AA8508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95450"/>
            <a:ext cx="8667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18000"/>
              </a:lnSpc>
              <a:buNone/>
              <a:defRPr sz="1425">
                <a:solidFill>
                  <a:srgbClr val="71808C"/>
                </a:solidFill>
                <a:latin typeface="Aptos"/>
                <a:ea typeface="Aptos"/>
                <a:cs typeface="Aptos"/>
              </a:defRPr>
            </a:pPr>
            <a:r>
              <a:rPr sz="1425">
                <a:solidFill>
                  <a:srgbClr val="71808C"/>
                </a:solidFill>
                <a:latin typeface="Aptos"/>
                <a:ea typeface="Aptos"/>
                <a:cs typeface="Aptos"/>
              </a:rPr>
              <a:t>The system is designed for HR operators, not as a general-purpose employee dashboard.</a:t>
            </a:r>
          </a:p>
        </p:txBody>
      </p:sp>
      <p:pic>
        <p:nvPicPr>
          <p:cNvPr id="3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6921407a4484ceb"/>
          <a:srcRect xmlns:a="http://schemas.openxmlformats.org/drawingml/2006/main" l="0" t="21108" r="0" b="2110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067550" y="2590800"/>
            <a:ext cx="4438650" cy="2952750"/>
          </a:xfrm>
          <a:prstGeom xmlns:a="http://schemas.openxmlformats.org/drawingml/2006/main" prst="roundRect">
            <a:avLst>
              <a:gd name="adj" fmla="val 5161"/>
            </a:avLst>
          </a:prstGeom>
        </p:spPr>
      </p:pic>
      <p:sp>
        <p:nvSpPr>
          <p:cNvPr id="5" name="dashboard-frame">
            <a:extLst xmlns:a="http://schemas.openxmlformats.org/drawingml/2006/main">
              <a:ext uri="{FF2B5EF4-FFF2-40B4-BE49-F238E27FC236}">
                <a16:creationId xmlns:a16="http://schemas.microsoft.com/office/drawing/2014/main" id="{66C025BF-7436-4F07-8E64-2897FB7C76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2590800"/>
            <a:ext cx="4438650" cy="2952750"/>
          </a:xfrm>
          <a:prstGeom xmlns:a="http://schemas.openxmlformats.org/drawingml/2006/main" prst="roundRect">
            <a:avLst>
              <a:gd name="adj" fmla="val 2581"/>
            </a:avLst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19050">
            <a:solidFill>
              <a:srgbClr val="0E7C79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F66E99E-BE04-495A-9D4D-A31308FB6F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619375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6B5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05C89BC-7D3D-48D5-A790-2841A174EA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571750"/>
            <a:ext cx="2190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425" b="1">
                <a:solidFill>
                  <a:srgbClr val="081018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081018"/>
                </a:solidFill>
                <a:latin typeface="Aptos"/>
                <a:ea typeface="Aptos"/>
                <a:cs typeface="Aptos"/>
              </a:rPr>
              <a:t>Ticket triage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04E0ADE-1F19-457C-9F64-CDB7FAE449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828925"/>
            <a:ext cx="5124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125">
                <a:solidFill>
                  <a:srgbClr val="71808C"/>
                </a:solidFill>
                <a:latin typeface="Aptos"/>
                <a:ea typeface="Aptos"/>
                <a:cs typeface="Aptos"/>
              </a:defRPr>
            </a:pPr>
            <a:r>
              <a:rPr sz="1125">
                <a:solidFill>
                  <a:srgbClr val="71808C"/>
                </a:solidFill>
                <a:latin typeface="Aptos"/>
                <a:ea typeface="Aptos"/>
                <a:cs typeface="Aptos"/>
              </a:rPr>
              <a:t>Routes routine and urgent work; urgent cases escalate.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B440FB3-2CDC-468A-8448-17EEDD77CF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248025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E7C7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B2A1BAB-31B0-4ED1-9C9C-A43B2DABAB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200400"/>
            <a:ext cx="2190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425" b="1">
                <a:solidFill>
                  <a:srgbClr val="081018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081018"/>
                </a:solidFill>
                <a:latin typeface="Aptos"/>
                <a:ea typeface="Aptos"/>
                <a:cs typeface="Aptos"/>
              </a:rPr>
              <a:t>Policy Q&amp;A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78FE350-6336-4CD9-9B80-1934AE2A44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457575"/>
            <a:ext cx="5124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125">
                <a:solidFill>
                  <a:srgbClr val="71808C"/>
                </a:solidFill>
                <a:latin typeface="Aptos"/>
                <a:ea typeface="Aptos"/>
                <a:cs typeface="Aptos"/>
              </a:defRPr>
            </a:pPr>
            <a:r>
              <a:rPr sz="1125">
                <a:solidFill>
                  <a:srgbClr val="71808C"/>
                </a:solidFill>
                <a:latin typeface="Aptos"/>
                <a:ea typeface="Aptos"/>
                <a:cs typeface="Aptos"/>
              </a:rPr>
              <a:t>Answers from versioned evidence; weak evidence triggers review.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79AE6CE-F5DD-40B2-9D33-961C0C1F36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876675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C76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C90E7E5-7B8A-4CB6-AC9E-F7BF677701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829050"/>
            <a:ext cx="2190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425" b="1">
                <a:solidFill>
                  <a:srgbClr val="081018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081018"/>
                </a:solidFill>
                <a:latin typeface="Aptos"/>
                <a:ea typeface="Aptos"/>
                <a:cs typeface="Aptos"/>
              </a:rPr>
              <a:t>Resume screening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736EEA0-B539-4F9F-BB08-04610A2610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086225"/>
            <a:ext cx="5124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125">
                <a:solidFill>
                  <a:srgbClr val="71808C"/>
                </a:solidFill>
                <a:latin typeface="Aptos"/>
                <a:ea typeface="Aptos"/>
                <a:cs typeface="Aptos"/>
              </a:defRPr>
            </a:pPr>
            <a:r>
              <a:rPr sz="1125">
                <a:solidFill>
                  <a:srgbClr val="71808C"/>
                </a:solidFill>
                <a:latin typeface="Aptos"/>
                <a:ea typeface="Aptos"/>
                <a:cs typeface="Aptos"/>
              </a:rPr>
              <a:t>Transparent advisory rubric; never auto-rejects.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04924F2-F6E1-40A7-82A2-2B877C2D3C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505325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9BE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A979D7D-08ED-4E63-BEB3-FDE341426F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457700"/>
            <a:ext cx="2190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425" b="1">
                <a:solidFill>
                  <a:srgbClr val="081018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081018"/>
                </a:solidFill>
                <a:latin typeface="Aptos"/>
                <a:ea typeface="Aptos"/>
                <a:cs typeface="Aptos"/>
              </a:rPr>
              <a:t>Onboarding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31D67D0-56C4-4ACA-B52A-07C695451C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714875"/>
            <a:ext cx="5124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125">
                <a:solidFill>
                  <a:srgbClr val="71808C"/>
                </a:solidFill>
                <a:latin typeface="Aptos"/>
                <a:ea typeface="Aptos"/>
                <a:cs typeface="Aptos"/>
              </a:defRPr>
            </a:pPr>
            <a:r>
              <a:rPr sz="1125">
                <a:solidFill>
                  <a:srgbClr val="71808C"/>
                </a:solidFill>
                <a:latin typeface="Aptos"/>
                <a:ea typeface="Aptos"/>
                <a:cs typeface="Aptos"/>
              </a:rPr>
              <a:t>Runs a checklist and pauses sensitive steps for approval.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FA388D9-8AEB-4926-BEC6-19C79D3239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133975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6B5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C75F35B-9E5E-4598-A8CE-A155AB334A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5086350"/>
            <a:ext cx="2190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425" b="1">
                <a:solidFill>
                  <a:srgbClr val="081018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081018"/>
                </a:solidFill>
                <a:latin typeface="Aptos"/>
                <a:ea typeface="Aptos"/>
                <a:cs typeface="Aptos"/>
              </a:rPr>
              <a:t>Attrition advisory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CA5A2B8-0B06-4C1A-ABD4-8B0AD8CED3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5343525"/>
            <a:ext cx="5124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125">
                <a:solidFill>
                  <a:srgbClr val="71808C"/>
                </a:solidFill>
                <a:latin typeface="Aptos"/>
                <a:ea typeface="Aptos"/>
                <a:cs typeface="Aptos"/>
              </a:defRPr>
            </a:pPr>
            <a:r>
              <a:rPr sz="1125">
                <a:solidFill>
                  <a:srgbClr val="71808C"/>
                </a:solidFill>
                <a:latin typeface="Aptos"/>
                <a:ea typeface="Aptos"/>
                <a:cs typeface="Aptos"/>
              </a:rPr>
              <a:t>Surfaces risk factors; never a punitive verdict.</a:t>
            </a:r>
          </a:p>
        </p:txBody>
      </p:sp>
      <p:sp>
        <p:nvSpPr>
          <p:cNvPr id="21" name="pill-HR OPERATORS">
            <a:extLst xmlns:a="http://schemas.openxmlformats.org/drawingml/2006/main">
              <a:ext uri="{FF2B5EF4-FFF2-40B4-BE49-F238E27FC236}">
                <a16:creationId xmlns:a16="http://schemas.microsoft.com/office/drawing/2014/main" id="{0E46DFB3-46ED-4B03-9CFC-CF373D9703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5743575"/>
            <a:ext cx="121920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DF8F4"/>
          </a:solidFill>
          <a:ln xmlns:a="http://schemas.openxmlformats.org/drawingml/2006/main" w="9525">
            <a:solidFill>
              <a:srgbClr val="DDF8F4"/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buNone/>
              <a:defRPr sz="975" b="1">
                <a:solidFill>
                  <a:srgbClr val="0E7C79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0E7C79"/>
                </a:solidFill>
                <a:latin typeface="Aptos"/>
                <a:ea typeface="Aptos"/>
                <a:cs typeface="Aptos"/>
              </a:rPr>
              <a:t>HR OPERATORS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BF6C7CF-405B-4772-BD14-E702CE436F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5743575"/>
            <a:ext cx="30099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86189"/>
          </a:bodyPr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050">
                <a:solidFill>
                  <a:srgbClr val="71808C"/>
                </a:solidFill>
                <a:latin typeface="Aptos"/>
                <a:ea typeface="Aptos"/>
                <a:cs typeface="Aptos"/>
              </a:defRPr>
            </a:pPr>
            <a:r>
              <a:rPr sz="1050">
                <a:solidFill>
                  <a:srgbClr val="71808C"/>
                </a:solidFill>
                <a:latin typeface="Aptos"/>
                <a:ea typeface="Aptos"/>
                <a:cs typeface="Aptos"/>
              </a:rPr>
              <a:t>Employees get a focused, chat-first surface; the command center is reserved for the people who operate it.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440D171-C401-4EE6-87EF-B4E072B331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29375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6E1E7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F3EF4C6-B096-42E8-A043-29BCC37038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34150"/>
            <a:ext cx="4572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825">
                <a:solidFill>
                  <a:srgbClr val="71808C"/>
                </a:solidFill>
                <a:latin typeface="Aptos"/>
                <a:ea typeface="Aptos"/>
                <a:cs typeface="Aptos"/>
              </a:defRPr>
            </a:pPr>
            <a:r>
              <a:rPr sz="825">
                <a:solidFill>
                  <a:srgbClr val="71808C"/>
                </a:solidFill>
                <a:latin typeface="Aptos"/>
                <a:ea typeface="Aptos"/>
                <a:cs typeface="Aptos"/>
              </a:rPr>
              <a:t>Source: PRODUCT.md · docs/webapp-test-chat-result.png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C59B213-1D1C-4FC2-85A7-0E9F4CB8E2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15100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900" b="1">
                <a:solidFill>
                  <a:srgbClr val="0E7C79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0E7C79"/>
                </a:solidFill>
                <a:latin typeface="Aptos"/>
                <a:ea typeface="Aptos"/>
                <a:cs typeface="Aptos"/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1013965414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08101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04F97EED-4C72-4DD7-BEF6-479924B747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4000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975" b="1">
                <a:solidFill>
                  <a:srgbClr val="4DE1D3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4DE1D3"/>
                </a:solidFill>
                <a:latin typeface="Aptos"/>
                <a:ea typeface="Aptos"/>
                <a:cs typeface="Aptos"/>
              </a:rPr>
              <a:t>FLAGSHIP WORKFLOW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7104DE7-7241-49CF-8904-D4BA3A2DA1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87630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96000"/>
              </a:lnSpc>
              <a:buNone/>
              <a:defRPr sz="31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31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The proof is an auditable resume review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7E5131A-D709-4074-B302-99796BE9C2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95450"/>
            <a:ext cx="8667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18000"/>
              </a:lnSpc>
              <a:buNone/>
              <a:defRPr sz="1425">
                <a:solidFill>
                  <a:srgbClr val="A7BBC5"/>
                </a:solidFill>
                <a:latin typeface="Aptos"/>
                <a:ea typeface="Aptos"/>
                <a:cs typeface="Aptos"/>
              </a:defRPr>
            </a:pPr>
            <a:r>
              <a:rPr sz="1425">
                <a:solidFill>
                  <a:srgbClr val="A7BBC5"/>
                </a:solidFill>
                <a:latin typeface="Aptos"/>
                <a:ea typeface="Aptos"/>
                <a:cs typeface="Aptos"/>
              </a:rPr>
              <a:t>Decision support is useful only when the handoff is transparent, PII-safe, and human-approved.</a:t>
            </a:r>
          </a:p>
        </p:txBody>
      </p:sp>
      <p:pic>
        <p:nvPicPr>
          <p:cNvPr id="2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1477e4ed59d4d3b"/>
          <a:stretch xmlns:a="http://schemas.openxmlformats.org/drawingml/2006/main"/>
        </p:blipFill>
        <p:spPr>
          <a:xfrm xmlns:a="http://schemas.openxmlformats.org/drawingml/2006/main">
            <a:off x="5810250" y="2729632"/>
            <a:ext cx="5695950" cy="2827486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72F09EC-7EA0-4B6D-B68E-E3EEFF81BD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552700"/>
            <a:ext cx="381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350" b="1">
                <a:solidFill>
                  <a:srgbClr val="4DE1D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4DE1D3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B814EC7-5E46-46DB-888B-0D81C0B19D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2552700"/>
            <a:ext cx="190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5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Intake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984BCE9-A3E0-4E87-824E-B5BCBD7915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2838450"/>
            <a:ext cx="3905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200">
                <a:solidFill>
                  <a:srgbClr val="B6C6CE"/>
                </a:solidFill>
                <a:latin typeface="Aptos"/>
                <a:ea typeface="Aptos"/>
                <a:cs typeface="Aptos"/>
              </a:defRPr>
            </a:pPr>
            <a:r>
              <a:rPr sz="1200">
                <a:solidFill>
                  <a:srgbClr val="B6C6CE"/>
                </a:solidFill>
                <a:latin typeface="Aptos"/>
                <a:ea typeface="Aptos"/>
                <a:cs typeface="Aptos"/>
              </a:rPr>
              <a:t>Resume arrives as PDF, image, or text.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F6330AD-926B-4521-89AD-5AC010055A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333750"/>
            <a:ext cx="381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350" b="1">
                <a:solidFill>
                  <a:srgbClr val="3D9BE9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3D9BE9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EC377A7-5B26-4395-8DFE-0B82D86947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3333750"/>
            <a:ext cx="190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5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Blind + structure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4F09293-A18D-4BA0-8C7D-87D2BFE660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3619500"/>
            <a:ext cx="3905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89472"/>
          </a:bodyPr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200">
                <a:solidFill>
                  <a:srgbClr val="B6C6CE"/>
                </a:solidFill>
                <a:latin typeface="Aptos"/>
                <a:ea typeface="Aptos"/>
                <a:cs typeface="Aptos"/>
              </a:defRPr>
            </a:pPr>
            <a:r>
              <a:rPr sz="1200">
                <a:solidFill>
                  <a:srgbClr val="B6C6CE"/>
                </a:solidFill>
                <a:latin typeface="Aptos"/>
                <a:ea typeface="Aptos"/>
                <a:cs typeface="Aptos"/>
              </a:rPr>
              <a:t>Identity is blinded; skills and experience become a typed profile.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B984836-FA52-4236-978A-062AD91C2C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114800"/>
            <a:ext cx="381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350" b="1">
                <a:solidFill>
                  <a:srgbClr val="F5C76A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5C76A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00CD995-5975-4485-83D7-28C14CA5E7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4114800"/>
            <a:ext cx="190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5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Guard + explain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8439736-5623-4F58-9795-C2F7872CE4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4400550"/>
            <a:ext cx="3905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83041"/>
          </a:bodyPr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200">
                <a:solidFill>
                  <a:srgbClr val="B6C6CE"/>
                </a:solidFill>
                <a:latin typeface="Aptos"/>
                <a:ea typeface="Aptos"/>
                <a:cs typeface="Aptos"/>
              </a:defRPr>
            </a:pPr>
            <a:r>
              <a:rPr sz="1200">
                <a:solidFill>
                  <a:srgbClr val="B6C6CE"/>
                </a:solidFill>
                <a:latin typeface="Aptos"/>
                <a:ea typeface="Aptos"/>
                <a:cs typeface="Aptos"/>
              </a:rPr>
              <a:t>Policy guard checks the rubric and generates reasons—not a verdict.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A361B89-B8BC-4B9E-B634-4B52DA85B9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895850"/>
            <a:ext cx="381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350" b="1">
                <a:solidFill>
                  <a:srgbClr val="FF6B5E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F6B5E"/>
                </a:solidFill>
                <a:latin typeface="Aptos"/>
                <a:ea typeface="Aptos"/>
                <a:cs typeface="Aptos"/>
              </a:rPr>
              <a:t>04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FA6130B-DB79-4E5E-A06C-A66747D994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4895850"/>
            <a:ext cx="190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5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Approve + audit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A26F0EE-B1BB-4328-84F4-B30DC86CC5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5181600"/>
            <a:ext cx="3905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91922"/>
          </a:bodyPr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200">
                <a:solidFill>
                  <a:srgbClr val="B6C6CE"/>
                </a:solidFill>
                <a:latin typeface="Aptos"/>
                <a:ea typeface="Aptos"/>
                <a:cs typeface="Aptos"/>
              </a:defRPr>
            </a:pPr>
            <a:r>
              <a:rPr sz="1200">
                <a:solidFill>
                  <a:srgbClr val="B6C6CE"/>
                </a:solidFill>
                <a:latin typeface="Aptos"/>
                <a:ea typeface="Aptos"/>
                <a:cs typeface="Aptos"/>
              </a:rPr>
              <a:t>A human checkpoint closes the loop and records the decision.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33ED5F3-B45C-4028-BF95-4922B47BA4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772150"/>
            <a:ext cx="4857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98174"/>
          </a:bodyPr>
          <a:lstStyle xmlns:a="http://schemas.openxmlformats.org/drawingml/2006/main"/>
          <a:p xmlns:a="http://schemas.openxmlformats.org/drawingml/2006/main">
            <a:pPr>
              <a:buNone/>
              <a:defRPr sz="1275" b="1">
                <a:solidFill>
                  <a:srgbClr val="4DE1D3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4DE1D3"/>
                </a:solidFill>
                <a:latin typeface="Aptos"/>
                <a:ea typeface="Aptos"/>
                <a:cs typeface="Aptos"/>
              </a:rPr>
              <a:t>A2A-shaped handoffs carry certified, PII-safe artifacts—not raw text.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247A430-2B3D-400C-A0BA-E527BD4E6C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29375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4404B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FA50A7D-ACD2-4C2A-938E-DE8F42629F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34150"/>
            <a:ext cx="4572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825">
                <a:solidFill>
                  <a:srgbClr val="9DB2BF"/>
                </a:solidFill>
                <a:latin typeface="Aptos"/>
                <a:ea typeface="Aptos"/>
                <a:cs typeface="Aptos"/>
              </a:defRPr>
            </a:pPr>
            <a:r>
              <a:rPr sz="825">
                <a:solidFill>
                  <a:srgbClr val="9DB2BF"/>
                </a:solidFill>
                <a:latin typeface="Aptos"/>
                <a:ea typeface="Aptos"/>
                <a:cs typeface="Aptos"/>
              </a:rPr>
              <a:t>Source: PRODUCT.md · A2A_TECHNICAL_PLAN.md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414C377-A478-410E-8A12-C35001840C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15100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900" b="1">
                <a:solidFill>
                  <a:srgbClr val="4DE1D3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4DE1D3"/>
                </a:solidFill>
                <a:latin typeface="Aptos"/>
                <a:ea typeface="Aptos"/>
                <a:cs typeface="Aptos"/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1945565826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34CB4C4A-813D-4A42-8229-8BE599B353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4000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975" b="1">
                <a:solidFill>
                  <a:srgbClr val="0E7C79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0E7C79"/>
                </a:solidFill>
                <a:latin typeface="Aptos"/>
                <a:ea typeface="Aptos"/>
                <a:cs typeface="Aptos"/>
              </a:rPr>
              <a:t>RUNTIME ARCHITECTURE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41F815B-0466-4F74-900C-B58B781E77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87630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88872"/>
          </a:bodyPr>
          <a:lstStyle xmlns:a="http://schemas.openxmlformats.org/drawingml/2006/main"/>
          <a:p xmlns:a="http://schemas.openxmlformats.org/drawingml/2006/main">
            <a:pPr>
              <a:lnSpc>
                <a:spcPct val="96000"/>
              </a:lnSpc>
              <a:buNone/>
              <a:defRPr sz="3150" b="1">
                <a:solidFill>
                  <a:srgbClr val="081018"/>
                </a:solidFill>
                <a:latin typeface="Aptos"/>
                <a:ea typeface="Aptos"/>
                <a:cs typeface="Aptos"/>
              </a:defRPr>
            </a:pPr>
            <a:r>
              <a:rPr sz="3150" b="1">
                <a:solidFill>
                  <a:srgbClr val="081018"/>
                </a:solidFill>
                <a:latin typeface="Aptos"/>
                <a:ea typeface="Aptos"/>
                <a:cs typeface="Aptos"/>
              </a:rPr>
              <a:t>Provider routing is explicit, cost-bounded, and reversible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CA30622-0016-473A-AB54-D831F94059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95450"/>
            <a:ext cx="8667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18000"/>
              </a:lnSpc>
              <a:buNone/>
              <a:defRPr sz="1425">
                <a:solidFill>
                  <a:srgbClr val="71808C"/>
                </a:solidFill>
                <a:latin typeface="Aptos"/>
                <a:ea typeface="Aptos"/>
                <a:cs typeface="Aptos"/>
              </a:defRPr>
            </a:pPr>
            <a:r>
              <a:rPr sz="1425">
                <a:solidFill>
                  <a:srgbClr val="71808C"/>
                </a:solidFill>
                <a:latin typeface="Aptos"/>
                <a:ea typeface="Aptos"/>
                <a:cs typeface="Aptos"/>
              </a:rPr>
              <a:t>The durable control plane keeps workflows useful even when model inference is unavailable.</a:t>
            </a:r>
          </a:p>
        </p:txBody>
      </p:sp>
      <p:pic>
        <p:nvPicPr>
          <p:cNvPr id="2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d227b3c07564ff5"/>
          <a:stretch xmlns:a="http://schemas.openxmlformats.org/drawingml/2006/main"/>
        </p:blipFill>
        <p:spPr>
          <a:xfrm xmlns:a="http://schemas.openxmlformats.org/drawingml/2006/main">
            <a:off x="5334000" y="2696045"/>
            <a:ext cx="6172200" cy="2847036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8BA159B-332A-4734-9771-007A23CF1C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71750"/>
            <a:ext cx="4038600" cy="800100"/>
          </a:xfrm>
          <a:prstGeom xmlns:a="http://schemas.openxmlformats.org/drawingml/2006/main" prst="roundRect">
            <a:avLst>
              <a:gd name="adj" fmla="val 9524"/>
            </a:avLst>
          </a:prstGeom>
          <a:solidFill xmlns:a="http://schemas.openxmlformats.org/drawingml/2006/main">
            <a:srgbClr val="DDF8F4"/>
          </a:solidFill>
          <a:ln xmlns:a="http://schemas.openxmlformats.org/drawingml/2006/main" w="9525">
            <a:solidFill>
              <a:srgbClr val="0E7C79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E35078C-3CF0-46F1-8E55-ECEBC7CA9B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714625"/>
            <a:ext cx="3467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425" b="1">
                <a:solidFill>
                  <a:srgbClr val="081018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081018"/>
                </a:solidFill>
                <a:latin typeface="Aptos"/>
                <a:ea typeface="Aptos"/>
                <a:cs typeface="Aptos"/>
              </a:rPr>
              <a:t>Deterministic first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ADC3520-34EE-4D27-AD50-378391FE4A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981325"/>
            <a:ext cx="3467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75758"/>
          </a:bodyPr>
          <a:lstStyle xmlns:a="http://schemas.openxmlformats.org/drawingml/2006/main"/>
          <a:p xmlns:a="http://schemas.openxmlformats.org/drawingml/2006/main">
            <a:pPr>
              <a:lnSpc>
                <a:spcPct val="110000"/>
              </a:lnSpc>
              <a:buNone/>
              <a:defRPr sz="1125">
                <a:solidFill>
                  <a:srgbClr val="71808C"/>
                </a:solidFill>
                <a:latin typeface="Aptos"/>
                <a:ea typeface="Aptos"/>
                <a:cs typeface="Aptos"/>
              </a:defRPr>
            </a:pPr>
            <a:r>
              <a:rPr sz="1125">
                <a:solidFill>
                  <a:srgbClr val="71808C"/>
                </a:solidFill>
                <a:latin typeface="Aptos"/>
                <a:ea typeface="Aptos"/>
                <a:cs typeface="Aptos"/>
              </a:rPr>
              <a:t>Obvious triage, local scoring, and templated explanations use zero model spend.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0503116-5690-417C-A543-3CDBCAD48E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00450"/>
            <a:ext cx="4038600" cy="800100"/>
          </a:xfrm>
          <a:prstGeom xmlns:a="http://schemas.openxmlformats.org/drawingml/2006/main" prst="roundRect">
            <a:avLst>
              <a:gd name="adj" fmla="val 9524"/>
            </a:avLst>
          </a:prstGeom>
          <a:solidFill xmlns:a="http://schemas.openxmlformats.org/drawingml/2006/main">
            <a:srgbClr val="DDEEFF"/>
          </a:solidFill>
          <a:ln xmlns:a="http://schemas.openxmlformats.org/drawingml/2006/main" w="9525">
            <a:solidFill>
              <a:srgbClr val="3D9BE9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BDE9BBC-BFDE-4FBE-94CD-883BC5A320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743325"/>
            <a:ext cx="3467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425" b="1">
                <a:solidFill>
                  <a:srgbClr val="081018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081018"/>
                </a:solidFill>
                <a:latin typeface="Aptos"/>
                <a:ea typeface="Aptos"/>
                <a:cs typeface="Aptos"/>
              </a:rPr>
              <a:t>Fireworks AI online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2A2F38B-D2C7-4AAB-97CB-249432C4F2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010025"/>
            <a:ext cx="3467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75758"/>
          </a:bodyPr>
          <a:lstStyle xmlns:a="http://schemas.openxmlformats.org/drawingml/2006/main"/>
          <a:p xmlns:a="http://schemas.openxmlformats.org/drawingml/2006/main">
            <a:pPr>
              <a:lnSpc>
                <a:spcPct val="110000"/>
              </a:lnSpc>
              <a:buNone/>
              <a:defRPr sz="1125">
                <a:solidFill>
                  <a:srgbClr val="71808C"/>
                </a:solidFill>
                <a:latin typeface="Aptos"/>
                <a:ea typeface="Aptos"/>
                <a:cs typeface="Aptos"/>
              </a:defRPr>
            </a:pPr>
            <a:r>
              <a:rPr sz="1125">
                <a:solidFill>
                  <a:srgbClr val="71808C"/>
                </a:solidFill>
                <a:latin typeface="Aptos"/>
                <a:ea typeface="Aptos"/>
                <a:cs typeface="Aptos"/>
              </a:rPr>
              <a:t>Interactive ambiguity, grounded synthesis, and streaming are opt-in and allowlisted.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6410D34-F5C5-4DE5-A912-CBBB137362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629150"/>
            <a:ext cx="4038600" cy="800100"/>
          </a:xfrm>
          <a:prstGeom xmlns:a="http://schemas.openxmlformats.org/drawingml/2006/main" prst="roundRect">
            <a:avLst>
              <a:gd name="adj" fmla="val 9524"/>
            </a:avLst>
          </a:prstGeom>
          <a:solidFill xmlns:a="http://schemas.openxmlformats.org/drawingml/2006/main">
            <a:srgbClr val="FFE3DF"/>
          </a:solidFill>
          <a:ln xmlns:a="http://schemas.openxmlformats.org/drawingml/2006/main" w="9525">
            <a:solidFill>
              <a:srgbClr val="FF6B5E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076694C-F556-4794-861D-5A810B6586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772025"/>
            <a:ext cx="3467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425" b="1">
                <a:solidFill>
                  <a:srgbClr val="081018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081018"/>
                </a:solidFill>
                <a:latin typeface="Aptos"/>
                <a:ea typeface="Aptos"/>
                <a:cs typeface="Aptos"/>
              </a:rPr>
              <a:t>AMD / vLLM optional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2A13375-98C1-414C-8851-2B35985188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038725"/>
            <a:ext cx="3467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75758"/>
          </a:bodyPr>
          <a:lstStyle xmlns:a="http://schemas.openxmlformats.org/drawingml/2006/main"/>
          <a:p xmlns:a="http://schemas.openxmlformats.org/drawingml/2006/main">
            <a:pPr>
              <a:lnSpc>
                <a:spcPct val="110000"/>
              </a:lnSpc>
              <a:buNone/>
              <a:defRPr sz="1125">
                <a:solidFill>
                  <a:srgbClr val="71808C"/>
                </a:solidFill>
                <a:latin typeface="Aptos"/>
                <a:ea typeface="Aptos"/>
                <a:cs typeface="Aptos"/>
              </a:defRPr>
            </a:pPr>
            <a:r>
              <a:rPr sz="1125">
                <a:solidFill>
                  <a:srgbClr val="71808C"/>
                </a:solidFill>
                <a:latin typeface="Aptos"/>
                <a:ea typeface="Aptos"/>
                <a:cs typeface="Aptos"/>
              </a:rPr>
              <a:t>A self-hosted route exists; live hardware claims stay gated by named runtime evidence.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C39F0D5-9979-4D18-AD53-204076E646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29375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6E1E7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1D62BCE-7F8C-46F3-9290-8DEE1CF37A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34150"/>
            <a:ext cx="4572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825">
                <a:solidFill>
                  <a:srgbClr val="71808C"/>
                </a:solidFill>
                <a:latin typeface="Aptos"/>
                <a:ea typeface="Aptos"/>
                <a:cs typeface="Aptos"/>
              </a:defRPr>
            </a:pPr>
            <a:r>
              <a:rPr sz="825">
                <a:solidFill>
                  <a:srgbClr val="71808C"/>
                </a:solidFill>
                <a:latin typeface="Aptos"/>
                <a:ea typeface="Aptos"/>
                <a:cs typeface="Aptos"/>
              </a:rPr>
              <a:t>Source: README.md · CLAIMS.md · technical-architecture.png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8F079FA-BBC7-44B5-A659-5AD7FF9AA6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15100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900" b="1">
                <a:solidFill>
                  <a:srgbClr val="0E7C79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0E7C79"/>
                </a:solidFill>
                <a:latin typeface="Aptos"/>
                <a:ea typeface="Aptos"/>
                <a:cs typeface="Aptos"/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477397415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0E1A2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6975E9C4-DF37-45F6-84A5-0316F1D5A7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4000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975" b="1">
                <a:solidFill>
                  <a:srgbClr val="4DE1D3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4DE1D3"/>
                </a:solidFill>
                <a:latin typeface="Aptos"/>
                <a:ea typeface="Aptos"/>
                <a:cs typeface="Aptos"/>
              </a:rPr>
              <a:t>TRUST CONTROLS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03F0533-9E8D-4274-9BBD-DC24C01F50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87630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96000"/>
              </a:lnSpc>
              <a:buNone/>
              <a:defRPr sz="31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31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Governance is product behavior—not a footer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288512D-A311-4236-BEB6-7C1A170320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95450"/>
            <a:ext cx="8667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89206"/>
          </a:bodyPr>
          <a:lstStyle xmlns:a="http://schemas.openxmlformats.org/drawingml/2006/main"/>
          <a:p xmlns:a="http://schemas.openxmlformats.org/drawingml/2006/main">
            <a:pPr>
              <a:lnSpc>
                <a:spcPct val="118000"/>
              </a:lnSpc>
              <a:buNone/>
              <a:defRPr sz="1425">
                <a:solidFill>
                  <a:srgbClr val="A7BBC5"/>
                </a:solidFill>
                <a:latin typeface="Aptos"/>
                <a:ea typeface="Aptos"/>
                <a:cs typeface="Aptos"/>
              </a:defRPr>
            </a:pPr>
            <a:r>
              <a:rPr sz="1425">
                <a:solidFill>
                  <a:srgbClr val="A7BBC5"/>
                </a:solidFill>
                <a:latin typeface="Aptos"/>
                <a:ea typeface="Aptos"/>
                <a:cs typeface="Aptos"/>
              </a:rPr>
              <a:t>The system makes the safe path visible: role boundaries, human approvals, redaction, and evidence all live in the workflow.</a:t>
            </a:r>
          </a:p>
        </p:txBody>
      </p:sp>
      <p:pic>
        <p:nvPicPr>
          <p:cNvPr id="2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36efc0a411b49d6"/>
          <a:stretch xmlns:a="http://schemas.openxmlformats.org/drawingml/2006/main"/>
        </p:blipFill>
        <p:spPr>
          <a:xfrm xmlns:a="http://schemas.openxmlformats.org/drawingml/2006/main">
            <a:off x="769010" y="2571750"/>
            <a:ext cx="5739080" cy="3143250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D5C1726-F29C-484B-AAFE-40F00C8042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2705100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6B5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AA13C44-B513-4198-9407-70C65B1571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2686050"/>
            <a:ext cx="3238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4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Human checkpoints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1E9E729-9990-4895-AF4D-4ED0D9A6BD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2962275"/>
            <a:ext cx="3429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10000"/>
              </a:lnSpc>
              <a:buNone/>
              <a:defRPr sz="1125">
                <a:solidFill>
                  <a:srgbClr val="B6C6CE"/>
                </a:solidFill>
                <a:latin typeface="Aptos"/>
                <a:ea typeface="Aptos"/>
                <a:cs typeface="Aptos"/>
              </a:defRPr>
            </a:pPr>
            <a:r>
              <a:rPr sz="1125">
                <a:solidFill>
                  <a:srgbClr val="B6C6CE"/>
                </a:solidFill>
                <a:latin typeface="Aptos"/>
                <a:ea typeface="Aptos"/>
                <a:cs typeface="Aptos"/>
              </a:rPr>
              <a:t>Sensitive actions pause for explicit approval.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A76C547-CAF9-4F7F-A978-3E90F39758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3448050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C76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DAB00B9-2289-4054-92A4-27A2C90043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3429000"/>
            <a:ext cx="3238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4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Least privilege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8C339ED-52B3-4FF5-89C4-FAB3CF4666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3705225"/>
            <a:ext cx="3429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72237"/>
          </a:bodyPr>
          <a:lstStyle xmlns:a="http://schemas.openxmlformats.org/drawingml/2006/main"/>
          <a:p xmlns:a="http://schemas.openxmlformats.org/drawingml/2006/main">
            <a:pPr>
              <a:lnSpc>
                <a:spcPct val="110000"/>
              </a:lnSpc>
              <a:buNone/>
              <a:defRPr sz="1125">
                <a:solidFill>
                  <a:srgbClr val="B6C6CE"/>
                </a:solidFill>
                <a:latin typeface="Aptos"/>
                <a:ea typeface="Aptos"/>
                <a:cs typeface="Aptos"/>
              </a:defRPr>
            </a:pPr>
            <a:r>
              <a:rPr sz="1125">
                <a:solidFill>
                  <a:srgbClr val="B6C6CE"/>
                </a:solidFill>
                <a:latin typeface="Aptos"/>
                <a:ea typeface="Aptos"/>
                <a:cs typeface="Aptos"/>
              </a:rPr>
              <a:t>Viewer → analyst → manager → admin scopes the surface and the action.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F350973-B0FF-4A53-83DF-B5E4B38C78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4191000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DE1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D6AEB11-44FC-4EB4-B357-EAF4C9638B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4171950"/>
            <a:ext cx="3238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4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PII boundaries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317E940-C829-4B07-B3FA-4CED2372F7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4448175"/>
            <a:ext cx="3429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91757"/>
          </a:bodyPr>
          <a:lstStyle xmlns:a="http://schemas.openxmlformats.org/drawingml/2006/main"/>
          <a:p xmlns:a="http://schemas.openxmlformats.org/drawingml/2006/main">
            <a:pPr>
              <a:lnSpc>
                <a:spcPct val="110000"/>
              </a:lnSpc>
              <a:buNone/>
              <a:defRPr sz="1125">
                <a:solidFill>
                  <a:srgbClr val="B6C6CE"/>
                </a:solidFill>
                <a:latin typeface="Aptos"/>
                <a:ea typeface="Aptos"/>
                <a:cs typeface="Aptos"/>
              </a:defRPr>
            </a:pPr>
            <a:r>
              <a:rPr sz="1125">
                <a:solidFill>
                  <a:srgbClr val="B6C6CE"/>
                </a:solidFill>
                <a:latin typeface="Aptos"/>
                <a:ea typeface="Aptos"/>
                <a:cs typeface="Aptos"/>
              </a:rPr>
              <a:t>Audit and provider payloads use redacted representations.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68465C9-95D2-4D71-B401-BA55CA80E2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4933950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9BE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C4F93E0-9C7A-4B7E-9A53-7978AB8471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4914900"/>
            <a:ext cx="3238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4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Append-only evidence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9A78C79-2CD6-4EA5-A742-B465FD923E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5191125"/>
            <a:ext cx="3429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84203"/>
          </a:bodyPr>
          <a:lstStyle xmlns:a="http://schemas.openxmlformats.org/drawingml/2006/main"/>
          <a:p xmlns:a="http://schemas.openxmlformats.org/drawingml/2006/main">
            <a:pPr>
              <a:lnSpc>
                <a:spcPct val="110000"/>
              </a:lnSpc>
              <a:buNone/>
              <a:defRPr sz="1125">
                <a:solidFill>
                  <a:srgbClr val="B6C6CE"/>
                </a:solidFill>
                <a:latin typeface="Aptos"/>
                <a:ea typeface="Aptos"/>
                <a:cs typeface="Aptos"/>
              </a:defRPr>
            </a:pPr>
            <a:r>
              <a:rPr sz="1125">
                <a:solidFill>
                  <a:srgbClr val="B6C6CE"/>
                </a:solidFill>
                <a:latin typeface="Aptos"/>
                <a:ea typeface="Aptos"/>
                <a:cs typeface="Aptos"/>
              </a:rPr>
              <a:t>Every agent action and human decision is exportable for review.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BF7DEC7-941D-4EBA-BEAA-6B3AE5743F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29375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4404B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ADC1BF1-D08E-40EF-8212-D442AA6523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34150"/>
            <a:ext cx="4572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825">
                <a:solidFill>
                  <a:srgbClr val="9DB2BF"/>
                </a:solidFill>
                <a:latin typeface="Aptos"/>
                <a:ea typeface="Aptos"/>
                <a:cs typeface="Aptos"/>
              </a:defRPr>
            </a:pPr>
            <a:r>
              <a:rPr sz="825">
                <a:solidFill>
                  <a:srgbClr val="9DB2BF"/>
                </a:solidFill>
                <a:latin typeface="Aptos"/>
                <a:ea typeface="Aptos"/>
                <a:cs typeface="Aptos"/>
              </a:rPr>
              <a:t>Source: MISSION.md · SECURITY.md · platform-risk-controls.png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00A0C79-BA3B-48EC-93A1-B2EFC99302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15100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900" b="1">
                <a:solidFill>
                  <a:srgbClr val="4DE1D3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4DE1D3"/>
                </a:solidFill>
                <a:latin typeface="Aptos"/>
                <a:ea typeface="Aptos"/>
                <a:cs typeface="Aptos"/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402898670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8188C29E-7FE1-4858-9AFB-578E5A1B66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4000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975" b="1">
                <a:solidFill>
                  <a:srgbClr val="0E7C79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0E7C79"/>
                </a:solidFill>
                <a:latin typeface="Aptos"/>
                <a:ea typeface="Aptos"/>
                <a:cs typeface="Aptos"/>
              </a:rPr>
              <a:t>THE HONEST CLOSE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61E942F-7F43-465D-AD16-94C6330DE6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87630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94682"/>
          </a:bodyPr>
          <a:lstStyle xmlns:a="http://schemas.openxmlformats.org/drawingml/2006/main"/>
          <a:p xmlns:a="http://schemas.openxmlformats.org/drawingml/2006/main">
            <a:pPr>
              <a:lnSpc>
                <a:spcPct val="96000"/>
              </a:lnSpc>
              <a:buNone/>
              <a:defRPr sz="3150" b="1">
                <a:solidFill>
                  <a:srgbClr val="081018"/>
                </a:solidFill>
                <a:latin typeface="Aptos"/>
                <a:ea typeface="Aptos"/>
                <a:cs typeface="Aptos"/>
              </a:defRPr>
            </a:pPr>
            <a:r>
              <a:rPr sz="3150" b="1">
                <a:solidFill>
                  <a:srgbClr val="081018"/>
                </a:solidFill>
                <a:latin typeface="Aptos"/>
                <a:ea typeface="Aptos"/>
                <a:cs typeface="Aptos"/>
              </a:rPr>
              <a:t>A deployable reference today; measured depth next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FEAF720-C2B1-430A-8F66-18B317E50D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95450"/>
            <a:ext cx="8667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89206"/>
          </a:bodyPr>
          <a:lstStyle xmlns:a="http://schemas.openxmlformats.org/drawingml/2006/main"/>
          <a:p xmlns:a="http://schemas.openxmlformats.org/drawingml/2006/main">
            <a:pPr>
              <a:lnSpc>
                <a:spcPct val="118000"/>
              </a:lnSpc>
              <a:buNone/>
              <a:defRPr sz="1425">
                <a:solidFill>
                  <a:srgbClr val="71808C"/>
                </a:solidFill>
                <a:latin typeface="Aptos"/>
                <a:ea typeface="Aptos"/>
                <a:cs typeface="Aptos"/>
              </a:defRPr>
            </a:pPr>
            <a:r>
              <a:rPr sz="1425">
                <a:solidFill>
                  <a:srgbClr val="71808C"/>
                </a:solidFill>
                <a:latin typeface="Aptos"/>
                <a:ea typeface="Aptos"/>
                <a:cs typeface="Aptos"/>
              </a:rPr>
              <a:t>Govern.ai is designed to make trustworthy AI in HR inspectable now—and to earn stronger claims with evidence, not optimism.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459DF34-7B56-4DAB-91F4-186CC1BA5B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24150"/>
            <a:ext cx="4895850" cy="2476500"/>
          </a:xfrm>
          <a:prstGeom xmlns:a="http://schemas.openxmlformats.org/drawingml/2006/main" prst="roundRect">
            <a:avLst>
              <a:gd name="adj" fmla="val 3077"/>
            </a:avLst>
          </a:prstGeom>
          <a:solidFill xmlns:a="http://schemas.openxmlformats.org/drawingml/2006/main">
            <a:srgbClr val="081018"/>
          </a:solidFill>
          <a:ln xmlns:a="http://schemas.openxmlformats.org/drawingml/2006/main" w="9525">
            <a:solidFill>
              <a:srgbClr val="081018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3F48F67-97A9-404D-A465-DA552A0B95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067050"/>
            <a:ext cx="3905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725" b="1">
                <a:solidFill>
                  <a:srgbClr val="4DE1D3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4DE1D3"/>
                </a:solidFill>
                <a:latin typeface="Aptos"/>
                <a:ea typeface="Aptos"/>
                <a:cs typeface="Aptos"/>
              </a:rPr>
              <a:t>Proven in the repository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55ECFC4-BBBA-40DE-9E65-CB6567B793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56235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DE1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E4726FB-38EA-4D7F-9A15-5452367F41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3505200"/>
            <a:ext cx="36957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20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00">
                <a:solidFill>
                  <a:srgbClr val="FFFFFF"/>
                </a:solidFill>
                <a:latin typeface="Aptos"/>
                <a:ea typeface="Aptos"/>
                <a:cs typeface="Aptos"/>
              </a:rPr>
              <a:t>Zero-secret deterministic evaluation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F85CD14-0883-41B5-AE9F-203433FE60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90525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DE1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7311754-6253-4C2A-BAD8-21928E0176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3848100"/>
            <a:ext cx="36957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20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00">
                <a:solidFill>
                  <a:srgbClr val="FFFFFF"/>
                </a:solidFill>
                <a:latin typeface="Aptos"/>
                <a:ea typeface="Aptos"/>
                <a:cs typeface="Aptos"/>
              </a:rPr>
              <a:t>Policy RAG with pgvector + citations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6373A94-991C-4B04-9D80-AD1FA3C094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24815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DE1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227AA4F-29A1-4495-94F0-66EF951939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4191000"/>
            <a:ext cx="36957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20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00">
                <a:solidFill>
                  <a:srgbClr val="FFFFFF"/>
                </a:solidFill>
                <a:latin typeface="Aptos"/>
                <a:ea typeface="Aptos"/>
                <a:cs typeface="Aptos"/>
              </a:rPr>
              <a:t>Human approval gates + immutable audit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12CA841-255A-42DA-8F8A-8A4D496CEC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59105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DE1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63D75BD-9E17-4360-A848-7CCA14D006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4533900"/>
            <a:ext cx="36957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20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00">
                <a:solidFill>
                  <a:srgbClr val="FFFFFF"/>
                </a:solidFill>
                <a:latin typeface="Aptos"/>
                <a:ea typeface="Aptos"/>
                <a:cs typeface="Aptos"/>
              </a:rPr>
              <a:t>Provider-neutral routing + batch lifecycle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8D2B573-616A-4764-A7C7-17A4A8F44D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2724150"/>
            <a:ext cx="5524500" cy="2476500"/>
          </a:xfrm>
          <a:prstGeom xmlns:a="http://schemas.openxmlformats.org/drawingml/2006/main" prst="roundRect">
            <a:avLst>
              <a:gd name="adj" fmla="val 3077"/>
            </a:avLst>
          </a:prstGeom>
          <a:solidFill xmlns:a="http://schemas.openxmlformats.org/drawingml/2006/main">
            <a:srgbClr val="DDF8F4"/>
          </a:solidFill>
          <a:ln xmlns:a="http://schemas.openxmlformats.org/drawingml/2006/main" w="9525">
            <a:solidFill>
              <a:srgbClr val="0E7C79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2598ADC-9B30-484B-8923-E33A350EDC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3067050"/>
            <a:ext cx="45529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725" b="1">
                <a:solidFill>
                  <a:srgbClr val="0E7C79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0E7C79"/>
                </a:solidFill>
                <a:latin typeface="Aptos"/>
                <a:ea typeface="Aptos"/>
                <a:cs typeface="Aptos"/>
              </a:rPr>
              <a:t>Gates still required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1B65D09-491C-421A-AFC9-24C7620BD8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356235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6B5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4BB1A39-9500-4822-AD25-F39A34F70A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3505200"/>
            <a:ext cx="44386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200">
                <a:solidFill>
                  <a:srgbClr val="263746"/>
                </a:solidFill>
                <a:latin typeface="Aptos"/>
                <a:ea typeface="Aptos"/>
                <a:cs typeface="Aptos"/>
              </a:defRPr>
            </a:pPr>
            <a:r>
              <a:rPr sz="1200">
                <a:solidFill>
                  <a:srgbClr val="263746"/>
                </a:solidFill>
                <a:latin typeface="Aptos"/>
                <a:ea typeface="Aptos"/>
                <a:cs typeface="Aptos"/>
              </a:rPr>
              <a:t>Credentialed Fireworks AI smoke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66090FC-ACA3-45A9-83DB-FD22DDE274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390525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6B5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FB45322-2530-4E0C-89D7-43F418BA3C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3848100"/>
            <a:ext cx="44386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200">
                <a:solidFill>
                  <a:srgbClr val="263746"/>
                </a:solidFill>
                <a:latin typeface="Aptos"/>
                <a:ea typeface="Aptos"/>
                <a:cs typeface="Aptos"/>
              </a:defRPr>
            </a:pPr>
            <a:r>
              <a:rPr sz="1200">
                <a:solidFill>
                  <a:srgbClr val="263746"/>
                </a:solidFill>
                <a:latin typeface="Aptos"/>
                <a:ea typeface="Aptos"/>
                <a:cs typeface="Aptos"/>
              </a:rPr>
              <a:t>Named AMD/ROCm/vLLM runtime evidence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F3BEF71-98EC-42F6-9AE0-E1F1281A5A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424815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6B5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1D21A4A-45DF-4EDE-A963-6F22F977C5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4191000"/>
            <a:ext cx="44386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200">
                <a:solidFill>
                  <a:srgbClr val="263746"/>
                </a:solidFill>
                <a:latin typeface="Aptos"/>
                <a:ea typeface="Aptos"/>
                <a:cs typeface="Aptos"/>
              </a:defRPr>
            </a:pPr>
            <a:r>
              <a:rPr sz="1200">
                <a:solidFill>
                  <a:srgbClr val="263746"/>
                </a:solidFill>
                <a:latin typeface="Aptos"/>
                <a:ea typeface="Aptos"/>
                <a:cs typeface="Aptos"/>
              </a:rPr>
              <a:t>Hardware benchmark + numerical error evidence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D337CCF-6279-4AC7-8402-228880EB87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459105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6B5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D417EAD-A8FA-467A-805B-F9682599E4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4533900"/>
            <a:ext cx="44386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200">
                <a:solidFill>
                  <a:srgbClr val="263746"/>
                </a:solidFill>
                <a:latin typeface="Aptos"/>
                <a:ea typeface="Aptos"/>
                <a:cs typeface="Aptos"/>
              </a:defRPr>
            </a:pPr>
            <a:r>
              <a:rPr sz="1200">
                <a:solidFill>
                  <a:srgbClr val="263746"/>
                </a:solidFill>
                <a:latin typeface="Aptos"/>
                <a:ea typeface="Aptos"/>
                <a:cs typeface="Aptos"/>
              </a:rPr>
              <a:t>Tenant isolation + enterprise identity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A9EA46B-58D2-42A1-B78C-0911A80E8F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5734050"/>
            <a:ext cx="9334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2100" b="1">
                <a:solidFill>
                  <a:srgbClr val="081018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081018"/>
                </a:solidFill>
                <a:latin typeface="Aptos"/>
                <a:ea typeface="Aptos"/>
                <a:cs typeface="Aptos"/>
              </a:rPr>
              <a:t>Build HR automation people can question, review, and trust.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0752861-E2AA-4ADD-8F4E-153C1B6490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29375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6E1E7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873D891-4D9D-4413-8C1A-3B400D6F97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34150"/>
            <a:ext cx="4572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825">
                <a:solidFill>
                  <a:srgbClr val="71808C"/>
                </a:solidFill>
                <a:latin typeface="Aptos"/>
                <a:ea typeface="Aptos"/>
                <a:cs typeface="Aptos"/>
              </a:defRPr>
            </a:pPr>
            <a:r>
              <a:rPr sz="825">
                <a:solidFill>
                  <a:srgbClr val="71808C"/>
                </a:solidFill>
                <a:latin typeface="Aptos"/>
                <a:ea typeface="Aptos"/>
                <a:cs typeface="Aptos"/>
              </a:rPr>
              <a:t>Source: README.md · CLAIMS.md · HACKATHON_JUDGE_BRIEF.md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98F5AEF-E75C-47BF-AC7C-7A1E587F59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15100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900" b="1">
                <a:solidFill>
                  <a:srgbClr val="0E7C79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0E7C79"/>
                </a:solidFill>
                <a:latin typeface="Aptos"/>
                <a:ea typeface="Aptos"/>
                <a:cs typeface="Aptos"/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923753318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2026-07-13T06:43:42.9460000Z</dcterms:created>
  <dcterms:modified xsi:type="dcterms:W3CDTF">2026-07-13T06:43:42.9460000Z</dcterms:modified>
</coreProperties>
</file>